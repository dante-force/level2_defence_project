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70" r:id="rId3"/>
    <p:sldId id="257" r:id="rId4"/>
    <p:sldId id="271" r:id="rId5"/>
    <p:sldId id="25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1" r:id="rId14"/>
    <p:sldId id="279" r:id="rId15"/>
    <p:sldId id="280" r:id="rId16"/>
    <p:sldId id="282" r:id="rId17"/>
    <p:sldId id="283" r:id="rId18"/>
    <p:sldId id="284" r:id="rId19"/>
    <p:sldId id="285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3E2B"/>
    <a:srgbClr val="FF6600"/>
    <a:srgbClr val="09261F"/>
    <a:srgbClr val="143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234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77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0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52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51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66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53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72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3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39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87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25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64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97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30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25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0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3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8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216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6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086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3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90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088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9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96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4285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787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572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5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6684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907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275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24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8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5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4.jp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jp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jpe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12C8D20C-BB56-4060-A17A-F05942230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1382" y="-196849"/>
            <a:ext cx="12205715" cy="6858000"/>
          </a:xfrm>
          <a:prstGeom prst="rect">
            <a:avLst/>
          </a:prstGeom>
        </p:spPr>
      </p:pic>
      <p:pic>
        <p:nvPicPr>
          <p:cNvPr id="14" name="Image 5">
            <a:extLst>
              <a:ext uri="{FF2B5EF4-FFF2-40B4-BE49-F238E27FC236}">
                <a16:creationId xmlns:a16="http://schemas.microsoft.com/office/drawing/2014/main" id="{0C8E0003-6237-408E-84B6-9BDAD22EA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194" y="2757055"/>
            <a:ext cx="1809866" cy="259909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C00000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F0000">
              <a:alpha val="25000"/>
            </a:srgbClr>
          </a:solidFill>
          <a:ln w="12700">
            <a:solidFill>
              <a:srgbClr val="2E8B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F0000">
              <a:alpha val="30000"/>
            </a:srgbClr>
          </a:solidFill>
          <a:ln w="12700">
            <a:solidFill>
              <a:srgbClr val="E8B84B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99933" y="6432551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900" dirty="0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6ABA92D1-D7C3-47A2-9EC2-FA8DA7E8FBFF}"/>
              </a:ext>
            </a:extLst>
          </p:cNvPr>
          <p:cNvSpPr/>
          <p:nvPr/>
        </p:nvSpPr>
        <p:spPr>
          <a:xfrm flipH="1">
            <a:off x="493734" y="-110171"/>
            <a:ext cx="5929926" cy="3144978"/>
          </a:xfrm>
          <a:prstGeom prst="cloudCallout">
            <a:avLst>
              <a:gd name="adj1" fmla="val -48562"/>
              <a:gd name="adj2" fmla="val 4704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ext 8"/>
          <p:cNvSpPr/>
          <p:nvPr/>
        </p:nvSpPr>
        <p:spPr>
          <a:xfrm>
            <a:off x="1772276" y="982936"/>
            <a:ext cx="3622684" cy="1347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Open Sans" pitchFamily="34" charset="-120"/>
              </a:rPr>
              <a:t>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For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Our end of Year defense presentation in view of obtaining a High Technician Diploma (HTD) in Computer Science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ABD9CAA-86F5-4374-A8F0-B124039A73C5}"/>
              </a:ext>
            </a:extLst>
          </p:cNvPr>
          <p:cNvSpPr/>
          <p:nvPr/>
        </p:nvSpPr>
        <p:spPr>
          <a:xfrm>
            <a:off x="1124856" y="380303"/>
            <a:ext cx="4499429" cy="874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0F0"/>
                </a:solidFill>
                <a:latin typeface="Franklin Gothic Heavy" panose="020B0903020102020204" pitchFamily="34" charset="0"/>
                <a:ea typeface="Open Sans" pitchFamily="34" charset="-122"/>
                <a:cs typeface="Open Sans" pitchFamily="34" charset="-120"/>
              </a:rPr>
              <a:t>Welcome at AICS </a:t>
            </a:r>
            <a:r>
              <a:rPr lang="en-US" sz="2400" dirty="0">
                <a:solidFill>
                  <a:schemeClr val="accent1"/>
                </a:solidFill>
                <a:latin typeface="Franklin Gothic Heavy" panose="020B0903020102020204" pitchFamily="34" charset="0"/>
                <a:ea typeface="Open Sans" pitchFamily="34" charset="-122"/>
                <a:cs typeface="Open Sans" pitchFamily="34" charset="-120"/>
              </a:rPr>
              <a:t>Cam</a:t>
            </a:r>
            <a:r>
              <a:rPr lang="en-US" sz="2400" dirty="0">
                <a:solidFill>
                  <a:srgbClr val="FF0000"/>
                </a:solidFill>
                <a:latin typeface="Franklin Gothic Heavy" panose="020B0903020102020204" pitchFamily="34" charset="0"/>
                <a:ea typeface="Open Sans" pitchFamily="34" charset="-122"/>
                <a:cs typeface="Open Sans" pitchFamily="34" charset="-120"/>
              </a:rPr>
              <a:t>er</a:t>
            </a:r>
            <a:r>
              <a:rPr lang="en-US" sz="2400" dirty="0">
                <a:solidFill>
                  <a:srgbClr val="FFC000"/>
                </a:solidFill>
                <a:latin typeface="Franklin Gothic Heavy" panose="020B0903020102020204" pitchFamily="34" charset="0"/>
                <a:ea typeface="Open Sans" pitchFamily="34" charset="-122"/>
                <a:cs typeface="Open Sans" pitchFamily="34" charset="-120"/>
              </a:rPr>
              <a:t>oon</a:t>
            </a:r>
            <a:endParaRPr lang="en-US" sz="2400" dirty="0">
              <a:solidFill>
                <a:srgbClr val="FFC000"/>
              </a:solidFill>
              <a:latin typeface="Franklin Gothic Heavy" panose="020B09030201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837166">
            <a:off x="5193212" y="-244916"/>
            <a:ext cx="982615" cy="982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3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3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8000">
              <a:schemeClr val="bg1"/>
            </a:gs>
            <a:gs pos="7000">
              <a:schemeClr val="accent1">
                <a:lumMod val="5000"/>
                <a:lumOff val="95000"/>
              </a:schemeClr>
            </a:gs>
            <a:gs pos="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31354039-49AF-4C9F-99BC-A21D09BFF203}"/>
              </a:ext>
            </a:extLst>
          </p:cNvPr>
          <p:cNvGrpSpPr/>
          <p:nvPr/>
        </p:nvGrpSpPr>
        <p:grpSpPr>
          <a:xfrm>
            <a:off x="512460" y="99735"/>
            <a:ext cx="8291800" cy="4817743"/>
            <a:chOff x="866523" y="301734"/>
            <a:chExt cx="10672865" cy="7146387"/>
          </a:xfrm>
        </p:grpSpPr>
        <p:pic>
          <p:nvPicPr>
            <p:cNvPr id="85" name="Image 10" descr="C:\Users\Edson Kanou\Desktop\projet stage\rapport\images\LOGO.jpg">
              <a:extLst>
                <a:ext uri="{FF2B5EF4-FFF2-40B4-BE49-F238E27FC236}">
                  <a16:creationId xmlns:a16="http://schemas.microsoft.com/office/drawing/2014/main" id="{EBADA724-D31E-41DA-9EF6-E6D7F0AB4B58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5999" y="301734"/>
              <a:ext cx="1137323" cy="1065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D8D2E1C-2212-4080-91A3-C08445258D2E}"/>
                </a:ext>
              </a:extLst>
            </p:cNvPr>
            <p:cNvSpPr/>
            <p:nvPr/>
          </p:nvSpPr>
          <p:spPr>
            <a:xfrm>
              <a:off x="1520549" y="3857763"/>
              <a:ext cx="9142496" cy="21421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350" marR="120650" indent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Internship carried out at </a:t>
              </a:r>
              <a:r>
                <a:rPr lang="en-US" sz="12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MI-TECH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from the 6</a:t>
              </a:r>
              <a:r>
                <a:rPr lang="en-US" sz="1200" baseline="30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th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July to 30th September 2026</a:t>
              </a:r>
              <a:r>
                <a:rPr lang="fr-FR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 view of obtaining a </a:t>
              </a:r>
              <a:r>
                <a:rPr lang="en-US" sz="12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Higher Technician Diploma (HTD)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in Computer Sciences.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6350" marR="120650" indent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Option: </a:t>
              </a:r>
              <a:r>
                <a:rPr lang="en-US" sz="12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Software Engineering</a:t>
              </a: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6350" marR="120650" indent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Written By: </a:t>
              </a:r>
              <a:r>
                <a:rPr lang="en-US" sz="1200" b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AKAMBA Walvede Daniel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6350" marR="120650" indent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Level II student at AICS Cameroon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557A911-D390-4647-90B4-366600CFC48D}"/>
                </a:ext>
              </a:extLst>
            </p:cNvPr>
            <p:cNvSpPr/>
            <p:nvPr/>
          </p:nvSpPr>
          <p:spPr>
            <a:xfrm>
              <a:off x="866523" y="5653143"/>
              <a:ext cx="3810082" cy="13203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u="sng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Academic Supervisor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Mr. BILL NELSON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Lecturer at AICS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26567AA-2850-4881-AA80-813579FFE143}"/>
                </a:ext>
              </a:extLst>
            </p:cNvPr>
            <p:cNvSpPr/>
            <p:nvPr/>
          </p:nvSpPr>
          <p:spPr>
            <a:xfrm>
              <a:off x="7627024" y="5666776"/>
              <a:ext cx="3912364" cy="16498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u="sng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Professional Supervisor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Mr. SERGIO JUNIOR CHEBEU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9144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Full Stack Developer at MI-TECH </a:t>
              </a:r>
              <a:endPara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indent="449580" algn="ctr">
                <a:lnSpc>
                  <a:spcPct val="107000"/>
                </a:lnSpc>
                <a:spcAft>
                  <a:spcPts val="800"/>
                </a:spcAft>
              </a:pPr>
              <a:endParaRPr lang="fr-CM" sz="120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D9E8A9C-5954-494F-A68F-E0B10DC83E9E}"/>
                </a:ext>
              </a:extLst>
            </p:cNvPr>
            <p:cNvSpPr/>
            <p:nvPr/>
          </p:nvSpPr>
          <p:spPr>
            <a:xfrm>
              <a:off x="4493095" y="6821901"/>
              <a:ext cx="3197403" cy="626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CA" sz="16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Academic Year 2025 - 2026</a:t>
              </a:r>
              <a:endParaRPr lang="fr-CM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5" name="Shape 6">
            <a:extLst>
              <a:ext uri="{FF2B5EF4-FFF2-40B4-BE49-F238E27FC236}">
                <a16:creationId xmlns:a16="http://schemas.microsoft.com/office/drawing/2014/main" id="{7A432722-3F78-4A34-91C0-F357582ECD56}"/>
              </a:ext>
            </a:extLst>
          </p:cNvPr>
          <p:cNvSpPr/>
          <p:nvPr/>
        </p:nvSpPr>
        <p:spPr>
          <a:xfrm>
            <a:off x="2104708" y="931193"/>
            <a:ext cx="5029200" cy="36576"/>
          </a:xfrm>
          <a:prstGeom prst="rect">
            <a:avLst/>
          </a:prstGeom>
          <a:solidFill>
            <a:srgbClr val="F33E2B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DC863AF5-81F7-40E2-9B6A-F980EA9E2CC8}"/>
              </a:ext>
            </a:extLst>
          </p:cNvPr>
          <p:cNvSpPr/>
          <p:nvPr/>
        </p:nvSpPr>
        <p:spPr>
          <a:xfrm>
            <a:off x="1513821" y="1115552"/>
            <a:ext cx="6028055" cy="1420195"/>
          </a:xfrm>
          <a:prstGeom prst="frame">
            <a:avLst>
              <a:gd name="adj1" fmla="val 6957"/>
            </a:avLst>
          </a:prstGeom>
          <a:solidFill>
            <a:srgbClr val="F33E2B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118745" indent="457200" algn="ctr">
              <a:lnSpc>
                <a:spcPct val="150000"/>
              </a:lnSpc>
              <a:spcBef>
                <a:spcPts val="0"/>
              </a:spcBef>
              <a:spcAft>
                <a:spcPts val="560"/>
              </a:spcAft>
            </a:pPr>
            <a:r>
              <a:rPr lang="en-US" sz="1800" dirty="0">
                <a:ln>
                  <a:noFill/>
                </a:ln>
                <a:solidFill>
                  <a:srgbClr val="C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CONCEPTION AND REALIZATION OF A SMART COMMUNITY PLATFORM FOR REAL-TIME INCIDENT REPORTING (SOS REPORT)</a:t>
            </a:r>
            <a:endParaRPr lang="fr-FR" sz="12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EE60FC-8F8D-4CB7-9F29-59EE7010910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4" t="4347" r="8240" b="5217"/>
          <a:stretch/>
        </p:blipFill>
        <p:spPr bwMode="auto">
          <a:xfrm>
            <a:off x="6295708" y="26354"/>
            <a:ext cx="838200" cy="8305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4" name="Groupe 19">
            <a:extLst>
              <a:ext uri="{FF2B5EF4-FFF2-40B4-BE49-F238E27FC236}">
                <a16:creationId xmlns:a16="http://schemas.microsoft.com/office/drawing/2014/main" id="{15630271-7799-4310-8795-C4090926F5AE}"/>
              </a:ext>
            </a:extLst>
          </p:cNvPr>
          <p:cNvGrpSpPr/>
          <p:nvPr/>
        </p:nvGrpSpPr>
        <p:grpSpPr>
          <a:xfrm flipH="1">
            <a:off x="8084733" y="-675419"/>
            <a:ext cx="1783039" cy="1588050"/>
            <a:chOff x="4380912" y="965617"/>
            <a:chExt cx="5225318" cy="4653888"/>
          </a:xfrm>
        </p:grpSpPr>
        <p:sp>
          <p:nvSpPr>
            <p:cNvPr id="17" name="Ellipse 20">
              <a:extLst>
                <a:ext uri="{FF2B5EF4-FFF2-40B4-BE49-F238E27FC236}">
                  <a16:creationId xmlns:a16="http://schemas.microsoft.com/office/drawing/2014/main" id="{0772A136-0D92-4B25-B8D4-0B7557F3E2E2}"/>
                </a:ext>
              </a:extLst>
            </p:cNvPr>
            <p:cNvSpPr/>
            <p:nvPr/>
          </p:nvSpPr>
          <p:spPr>
            <a:xfrm>
              <a:off x="4380912" y="1823189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21">
              <a:extLst>
                <a:ext uri="{FF2B5EF4-FFF2-40B4-BE49-F238E27FC236}">
                  <a16:creationId xmlns:a16="http://schemas.microsoft.com/office/drawing/2014/main" id="{809A4494-9EEA-4A16-99D4-FBB3BDFB6A2F}"/>
                </a:ext>
              </a:extLst>
            </p:cNvPr>
            <p:cNvSpPr/>
            <p:nvPr/>
          </p:nvSpPr>
          <p:spPr>
            <a:xfrm>
              <a:off x="6234268" y="965617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97F49CB7-942E-441C-A336-27EB5D9DF2C0}"/>
                </a:ext>
              </a:extLst>
            </p:cNvPr>
            <p:cNvSpPr/>
            <p:nvPr/>
          </p:nvSpPr>
          <p:spPr>
            <a:xfrm>
              <a:off x="5607815" y="1881745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e 19">
            <a:extLst>
              <a:ext uri="{FF2B5EF4-FFF2-40B4-BE49-F238E27FC236}">
                <a16:creationId xmlns:a16="http://schemas.microsoft.com/office/drawing/2014/main" id="{DF4FE95A-3A22-4589-8437-54E41F3555D1}"/>
              </a:ext>
            </a:extLst>
          </p:cNvPr>
          <p:cNvGrpSpPr/>
          <p:nvPr/>
        </p:nvGrpSpPr>
        <p:grpSpPr>
          <a:xfrm rot="17326182" flipH="1">
            <a:off x="-662979" y="-685779"/>
            <a:ext cx="1783039" cy="1588050"/>
            <a:chOff x="4380912" y="965617"/>
            <a:chExt cx="5225318" cy="4653888"/>
          </a:xfrm>
        </p:grpSpPr>
        <p:sp>
          <p:nvSpPr>
            <p:cNvPr id="24" name="Ellipse 20">
              <a:extLst>
                <a:ext uri="{FF2B5EF4-FFF2-40B4-BE49-F238E27FC236}">
                  <a16:creationId xmlns:a16="http://schemas.microsoft.com/office/drawing/2014/main" id="{A17EE532-8F1D-4445-987E-EA9FACB0E55B}"/>
                </a:ext>
              </a:extLst>
            </p:cNvPr>
            <p:cNvSpPr/>
            <p:nvPr/>
          </p:nvSpPr>
          <p:spPr>
            <a:xfrm>
              <a:off x="4380912" y="1823189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Ellipse 21">
              <a:extLst>
                <a:ext uri="{FF2B5EF4-FFF2-40B4-BE49-F238E27FC236}">
                  <a16:creationId xmlns:a16="http://schemas.microsoft.com/office/drawing/2014/main" id="{C3FDF5E1-974E-4FD5-8DB1-D44A02081BB8}"/>
                </a:ext>
              </a:extLst>
            </p:cNvPr>
            <p:cNvSpPr/>
            <p:nvPr/>
          </p:nvSpPr>
          <p:spPr>
            <a:xfrm>
              <a:off x="6234268" y="965617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Ellipse 21">
              <a:extLst>
                <a:ext uri="{FF2B5EF4-FFF2-40B4-BE49-F238E27FC236}">
                  <a16:creationId xmlns:a16="http://schemas.microsoft.com/office/drawing/2014/main" id="{139F071C-36AC-4C5C-97B1-C031A6C4C15D}"/>
                </a:ext>
              </a:extLst>
            </p:cNvPr>
            <p:cNvSpPr/>
            <p:nvPr/>
          </p:nvSpPr>
          <p:spPr>
            <a:xfrm>
              <a:off x="5607815" y="1881745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e 19">
            <a:extLst>
              <a:ext uri="{FF2B5EF4-FFF2-40B4-BE49-F238E27FC236}">
                <a16:creationId xmlns:a16="http://schemas.microsoft.com/office/drawing/2014/main" id="{839169F6-4F25-41F3-8FEC-78223DAEA127}"/>
              </a:ext>
            </a:extLst>
          </p:cNvPr>
          <p:cNvGrpSpPr/>
          <p:nvPr/>
        </p:nvGrpSpPr>
        <p:grpSpPr>
          <a:xfrm rot="11740719" flipH="1">
            <a:off x="-832529" y="4258261"/>
            <a:ext cx="1783039" cy="1588050"/>
            <a:chOff x="4380912" y="965617"/>
            <a:chExt cx="5225318" cy="4653888"/>
          </a:xfrm>
        </p:grpSpPr>
        <p:sp>
          <p:nvSpPr>
            <p:cNvPr id="28" name="Ellipse 20">
              <a:extLst>
                <a:ext uri="{FF2B5EF4-FFF2-40B4-BE49-F238E27FC236}">
                  <a16:creationId xmlns:a16="http://schemas.microsoft.com/office/drawing/2014/main" id="{46D7C894-E91C-46F4-86D5-F211EF6A0747}"/>
                </a:ext>
              </a:extLst>
            </p:cNvPr>
            <p:cNvSpPr/>
            <p:nvPr/>
          </p:nvSpPr>
          <p:spPr>
            <a:xfrm>
              <a:off x="4380912" y="1823189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Ellipse 21">
              <a:extLst>
                <a:ext uri="{FF2B5EF4-FFF2-40B4-BE49-F238E27FC236}">
                  <a16:creationId xmlns:a16="http://schemas.microsoft.com/office/drawing/2014/main" id="{3E6DDA06-DDBE-4980-AC04-EEE9DC7BED7C}"/>
                </a:ext>
              </a:extLst>
            </p:cNvPr>
            <p:cNvSpPr/>
            <p:nvPr/>
          </p:nvSpPr>
          <p:spPr>
            <a:xfrm>
              <a:off x="6234268" y="965617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Ellipse 21">
              <a:extLst>
                <a:ext uri="{FF2B5EF4-FFF2-40B4-BE49-F238E27FC236}">
                  <a16:creationId xmlns:a16="http://schemas.microsoft.com/office/drawing/2014/main" id="{9A29367B-1029-4AC6-8B47-1284847AD8D0}"/>
                </a:ext>
              </a:extLst>
            </p:cNvPr>
            <p:cNvSpPr/>
            <p:nvPr/>
          </p:nvSpPr>
          <p:spPr>
            <a:xfrm>
              <a:off x="5607815" y="1881745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e 19">
            <a:extLst>
              <a:ext uri="{FF2B5EF4-FFF2-40B4-BE49-F238E27FC236}">
                <a16:creationId xmlns:a16="http://schemas.microsoft.com/office/drawing/2014/main" id="{50DC9A5F-F5F8-4E76-88EB-E5C5A1D0D1A1}"/>
              </a:ext>
            </a:extLst>
          </p:cNvPr>
          <p:cNvGrpSpPr/>
          <p:nvPr/>
        </p:nvGrpSpPr>
        <p:grpSpPr>
          <a:xfrm rot="5730348" flipH="1">
            <a:off x="8227473" y="4331286"/>
            <a:ext cx="1783039" cy="1588050"/>
            <a:chOff x="4380912" y="965617"/>
            <a:chExt cx="5225318" cy="4653888"/>
          </a:xfrm>
        </p:grpSpPr>
        <p:sp>
          <p:nvSpPr>
            <p:cNvPr id="32" name="Ellipse 20">
              <a:extLst>
                <a:ext uri="{FF2B5EF4-FFF2-40B4-BE49-F238E27FC236}">
                  <a16:creationId xmlns:a16="http://schemas.microsoft.com/office/drawing/2014/main" id="{918FCF67-E417-4927-84E7-6F1A215C9FA4}"/>
                </a:ext>
              </a:extLst>
            </p:cNvPr>
            <p:cNvSpPr/>
            <p:nvPr/>
          </p:nvSpPr>
          <p:spPr>
            <a:xfrm>
              <a:off x="4380912" y="1823189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Ellipse 21">
              <a:extLst>
                <a:ext uri="{FF2B5EF4-FFF2-40B4-BE49-F238E27FC236}">
                  <a16:creationId xmlns:a16="http://schemas.microsoft.com/office/drawing/2014/main" id="{5C61EFF7-45F0-450C-8A18-ADA5ECE49018}"/>
                </a:ext>
              </a:extLst>
            </p:cNvPr>
            <p:cNvSpPr/>
            <p:nvPr/>
          </p:nvSpPr>
          <p:spPr>
            <a:xfrm>
              <a:off x="6234268" y="965617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Ellipse 21">
              <a:extLst>
                <a:ext uri="{FF2B5EF4-FFF2-40B4-BE49-F238E27FC236}">
                  <a16:creationId xmlns:a16="http://schemas.microsoft.com/office/drawing/2014/main" id="{03204279-067D-4F4F-85B4-A2070D02C49F}"/>
                </a:ext>
              </a:extLst>
            </p:cNvPr>
            <p:cNvSpPr/>
            <p:nvPr/>
          </p:nvSpPr>
          <p:spPr>
            <a:xfrm>
              <a:off x="5607815" y="1881745"/>
              <a:ext cx="3371962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5166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 rot="16200000">
            <a:off x="91440" y="16459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05840" y="36576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54680" y="816223"/>
            <a:ext cx="438912" cy="43891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54680" y="8443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3320" y="79861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Problematic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703320" y="1319820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979599"/>
            <a:ext cx="438912" cy="438912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197959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1933879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703320" y="2464231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2601391"/>
            <a:ext cx="438912" cy="438912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260139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555671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Methodology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703320" y="3086023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54680" y="3223183"/>
            <a:ext cx="438912" cy="438912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54680" y="322318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3177463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703320" y="3707815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4680" y="3844975"/>
            <a:ext cx="438912" cy="438912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63145" y="384497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703320" y="3799255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Demonstration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3154680" y="392488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03320" y="4409521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54680" y="4546681"/>
            <a:ext cx="438912" cy="438912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54680" y="454668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03320" y="4500961"/>
            <a:ext cx="471254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882D0F73-B45C-4E77-B784-704AAE6EA773}"/>
              </a:ext>
            </a:extLst>
          </p:cNvPr>
          <p:cNvSpPr/>
          <p:nvPr/>
        </p:nvSpPr>
        <p:spPr>
          <a:xfrm>
            <a:off x="3703320" y="690576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81AD9C12-10CD-4F50-B401-1FBBD794D76F}"/>
              </a:ext>
            </a:extLst>
          </p:cNvPr>
          <p:cNvSpPr/>
          <p:nvPr/>
        </p:nvSpPr>
        <p:spPr>
          <a:xfrm>
            <a:off x="3152333" y="146304"/>
            <a:ext cx="438912" cy="43891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3FFF5F27-ED31-465A-AF61-47CB1BFB8A0C}"/>
              </a:ext>
            </a:extLst>
          </p:cNvPr>
          <p:cNvSpPr/>
          <p:nvPr/>
        </p:nvSpPr>
        <p:spPr>
          <a:xfrm>
            <a:off x="3163145" y="2262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9E3E49B5-4C85-462E-8CD5-A7D538AE6EA7}"/>
              </a:ext>
            </a:extLst>
          </p:cNvPr>
          <p:cNvSpPr/>
          <p:nvPr/>
        </p:nvSpPr>
        <p:spPr>
          <a:xfrm>
            <a:off x="3703320" y="17140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C60EC750-BE5A-4ED9-B59C-C5F2DE44D88D}"/>
              </a:ext>
            </a:extLst>
          </p:cNvPr>
          <p:cNvSpPr/>
          <p:nvPr/>
        </p:nvSpPr>
        <p:spPr>
          <a:xfrm>
            <a:off x="3152333" y="1397689"/>
            <a:ext cx="438912" cy="43891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645A831C-2391-4386-A290-D29567E7DD99}"/>
              </a:ext>
            </a:extLst>
          </p:cNvPr>
          <p:cNvSpPr/>
          <p:nvPr/>
        </p:nvSpPr>
        <p:spPr>
          <a:xfrm>
            <a:off x="3152333" y="142579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C631827-A72C-4FDE-98DC-3F453BED3B63}"/>
              </a:ext>
            </a:extLst>
          </p:cNvPr>
          <p:cNvSpPr/>
          <p:nvPr/>
        </p:nvSpPr>
        <p:spPr>
          <a:xfrm>
            <a:off x="3700973" y="138007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3ED9B736-1495-4DE8-BC08-5A7A778889BF}"/>
              </a:ext>
            </a:extLst>
          </p:cNvPr>
          <p:cNvSpPr/>
          <p:nvPr/>
        </p:nvSpPr>
        <p:spPr>
          <a:xfrm>
            <a:off x="3700973" y="1901286"/>
            <a:ext cx="4937760" cy="9144"/>
          </a:xfrm>
          <a:prstGeom prst="rect">
            <a:avLst/>
          </a:prstGeom>
          <a:solidFill>
            <a:srgbClr val="D0DCEA"/>
          </a:solidFill>
          <a:ln w="12700">
            <a:solidFill>
              <a:srgbClr val="D0DCE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9000">
        <p159:morph option="byObject"/>
      </p:transition>
    </mc:Choice>
    <mc:Fallback xmlns=""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30" grpId="0" animBg="1"/>
      <p:bldP spid="31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llipse 12">
            <a:extLst>
              <a:ext uri="{FF2B5EF4-FFF2-40B4-BE49-F238E27FC236}">
                <a16:creationId xmlns:a16="http://schemas.microsoft.com/office/drawing/2014/main" id="{13538F4B-E41C-4860-BEE7-5D54AB3D014F}"/>
              </a:ext>
            </a:extLst>
          </p:cNvPr>
          <p:cNvSpPr/>
          <p:nvPr/>
        </p:nvSpPr>
        <p:spPr>
          <a:xfrm>
            <a:off x="12014200" y="6677130"/>
            <a:ext cx="127000" cy="13007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71E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llipse 13">
            <a:extLst>
              <a:ext uri="{FF2B5EF4-FFF2-40B4-BE49-F238E27FC236}">
                <a16:creationId xmlns:a16="http://schemas.microsoft.com/office/drawing/2014/main" id="{387B3171-5631-4C9B-AAA5-2068B984327D}"/>
              </a:ext>
            </a:extLst>
          </p:cNvPr>
          <p:cNvSpPr/>
          <p:nvPr/>
        </p:nvSpPr>
        <p:spPr>
          <a:xfrm>
            <a:off x="11171407" y="4683930"/>
            <a:ext cx="198404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971E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e 18">
            <a:extLst>
              <a:ext uri="{FF2B5EF4-FFF2-40B4-BE49-F238E27FC236}">
                <a16:creationId xmlns:a16="http://schemas.microsoft.com/office/drawing/2014/main" id="{946AA0EF-7BDE-4E4B-B2DB-E30523AC1F55}"/>
              </a:ext>
            </a:extLst>
          </p:cNvPr>
          <p:cNvGrpSpPr/>
          <p:nvPr/>
        </p:nvGrpSpPr>
        <p:grpSpPr>
          <a:xfrm flipH="1">
            <a:off x="8215563" y="4190770"/>
            <a:ext cx="1505013" cy="1541393"/>
            <a:chOff x="4395884" y="1321728"/>
            <a:chExt cx="3706715" cy="3796316"/>
          </a:xfrm>
        </p:grpSpPr>
        <p:sp>
          <p:nvSpPr>
            <p:cNvPr id="38" name="Ellipse 16">
              <a:extLst>
                <a:ext uri="{FF2B5EF4-FFF2-40B4-BE49-F238E27FC236}">
                  <a16:creationId xmlns:a16="http://schemas.microsoft.com/office/drawing/2014/main" id="{B3A7E8CB-5F5E-455E-951D-2930E16ACDE4}"/>
                </a:ext>
              </a:extLst>
            </p:cNvPr>
            <p:cNvSpPr/>
            <p:nvPr/>
          </p:nvSpPr>
          <p:spPr>
            <a:xfrm>
              <a:off x="4395884" y="1321728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Ellipse 17">
              <a:extLst>
                <a:ext uri="{FF2B5EF4-FFF2-40B4-BE49-F238E27FC236}">
                  <a16:creationId xmlns:a16="http://schemas.microsoft.com/office/drawing/2014/main" id="{A4B82F3B-3EEA-4A52-9317-FE5CF2590249}"/>
                </a:ext>
              </a:extLst>
            </p:cNvPr>
            <p:cNvSpPr/>
            <p:nvPr/>
          </p:nvSpPr>
          <p:spPr>
            <a:xfrm>
              <a:off x="4548284" y="1486828"/>
              <a:ext cx="3371963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e 19">
            <a:extLst>
              <a:ext uri="{FF2B5EF4-FFF2-40B4-BE49-F238E27FC236}">
                <a16:creationId xmlns:a16="http://schemas.microsoft.com/office/drawing/2014/main" id="{77507246-9837-4385-8D4F-47A470DF2DF0}"/>
              </a:ext>
            </a:extLst>
          </p:cNvPr>
          <p:cNvGrpSpPr/>
          <p:nvPr/>
        </p:nvGrpSpPr>
        <p:grpSpPr>
          <a:xfrm flipH="1">
            <a:off x="8597818" y="-553903"/>
            <a:ext cx="1264845" cy="1295420"/>
            <a:chOff x="4395884" y="1321728"/>
            <a:chExt cx="3706715" cy="3796316"/>
          </a:xfrm>
        </p:grpSpPr>
        <p:sp>
          <p:nvSpPr>
            <p:cNvPr id="41" name="Ellipse 20">
              <a:extLst>
                <a:ext uri="{FF2B5EF4-FFF2-40B4-BE49-F238E27FC236}">
                  <a16:creationId xmlns:a16="http://schemas.microsoft.com/office/drawing/2014/main" id="{4799CBC8-2F89-47A5-88CF-3E222DC9BDC2}"/>
                </a:ext>
              </a:extLst>
            </p:cNvPr>
            <p:cNvSpPr/>
            <p:nvPr/>
          </p:nvSpPr>
          <p:spPr>
            <a:xfrm>
              <a:off x="4395884" y="1321728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Ellipse 21">
              <a:extLst>
                <a:ext uri="{FF2B5EF4-FFF2-40B4-BE49-F238E27FC236}">
                  <a16:creationId xmlns:a16="http://schemas.microsoft.com/office/drawing/2014/main" id="{E5126E23-E145-402A-9014-61547A383CE9}"/>
                </a:ext>
              </a:extLst>
            </p:cNvPr>
            <p:cNvSpPr/>
            <p:nvPr/>
          </p:nvSpPr>
          <p:spPr>
            <a:xfrm>
              <a:off x="4548284" y="1486828"/>
              <a:ext cx="3371963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e 22">
            <a:extLst>
              <a:ext uri="{FF2B5EF4-FFF2-40B4-BE49-F238E27FC236}">
                <a16:creationId xmlns:a16="http://schemas.microsoft.com/office/drawing/2014/main" id="{2035A96C-01B8-4691-99FA-EAF235756AF4}"/>
              </a:ext>
            </a:extLst>
          </p:cNvPr>
          <p:cNvGrpSpPr/>
          <p:nvPr/>
        </p:nvGrpSpPr>
        <p:grpSpPr>
          <a:xfrm flipH="1">
            <a:off x="9872703" y="1499163"/>
            <a:ext cx="930968" cy="953472"/>
            <a:chOff x="4395884" y="1321728"/>
            <a:chExt cx="3706715" cy="3796316"/>
          </a:xfrm>
        </p:grpSpPr>
        <p:sp>
          <p:nvSpPr>
            <p:cNvPr id="44" name="Ellipse 23">
              <a:extLst>
                <a:ext uri="{FF2B5EF4-FFF2-40B4-BE49-F238E27FC236}">
                  <a16:creationId xmlns:a16="http://schemas.microsoft.com/office/drawing/2014/main" id="{AF361A1F-BCF7-499D-9B8F-A6F579D74FA8}"/>
                </a:ext>
              </a:extLst>
            </p:cNvPr>
            <p:cNvSpPr/>
            <p:nvPr/>
          </p:nvSpPr>
          <p:spPr>
            <a:xfrm>
              <a:off x="4395884" y="1321728"/>
              <a:ext cx="3706715" cy="379631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71E9E">
                  <a:alpha val="2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Ellipse 24">
              <a:extLst>
                <a:ext uri="{FF2B5EF4-FFF2-40B4-BE49-F238E27FC236}">
                  <a16:creationId xmlns:a16="http://schemas.microsoft.com/office/drawing/2014/main" id="{5CAEB696-D48A-4A0E-85A6-266A386102E4}"/>
                </a:ext>
              </a:extLst>
            </p:cNvPr>
            <p:cNvSpPr/>
            <p:nvPr/>
          </p:nvSpPr>
          <p:spPr>
            <a:xfrm>
              <a:off x="4548284" y="1486828"/>
              <a:ext cx="3371963" cy="345347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71E9E">
                  <a:alpha val="2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ZoneTexte 28">
            <a:extLst>
              <a:ext uri="{FF2B5EF4-FFF2-40B4-BE49-F238E27FC236}">
                <a16:creationId xmlns:a16="http://schemas.microsoft.com/office/drawing/2014/main" id="{652F5A5F-0CE9-47BF-85A6-B7B65F08227B}"/>
              </a:ext>
            </a:extLst>
          </p:cNvPr>
          <p:cNvSpPr txBox="1"/>
          <p:nvPr/>
        </p:nvSpPr>
        <p:spPr>
          <a:xfrm>
            <a:off x="887387" y="255323"/>
            <a:ext cx="2597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Lucida Fax" panose="02060602050505020204" pitchFamily="18" charset="0"/>
              </a:rPr>
              <a:t>Introduction</a:t>
            </a:r>
          </a:p>
        </p:txBody>
      </p:sp>
      <p:sp>
        <p:nvSpPr>
          <p:cNvPr id="47" name="Cadre 30">
            <a:extLst>
              <a:ext uri="{FF2B5EF4-FFF2-40B4-BE49-F238E27FC236}">
                <a16:creationId xmlns:a16="http://schemas.microsoft.com/office/drawing/2014/main" id="{8EA20138-AF8B-4CA9-A26A-5969006BC153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9" name="Groupe 34">
            <a:extLst>
              <a:ext uri="{FF2B5EF4-FFF2-40B4-BE49-F238E27FC236}">
                <a16:creationId xmlns:a16="http://schemas.microsoft.com/office/drawing/2014/main" id="{92CF852B-34A7-4298-981C-8C2DA1D78BD6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50" name="Cadre 32">
              <a:extLst>
                <a:ext uri="{FF2B5EF4-FFF2-40B4-BE49-F238E27FC236}">
                  <a16:creationId xmlns:a16="http://schemas.microsoft.com/office/drawing/2014/main" id="{700F619F-49B7-4BD4-9BF9-73D76B024715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Cadre 33">
              <a:extLst>
                <a:ext uri="{FF2B5EF4-FFF2-40B4-BE49-F238E27FC236}">
                  <a16:creationId xmlns:a16="http://schemas.microsoft.com/office/drawing/2014/main" id="{C34E0925-5D10-429D-AC8A-6AB7C5B2B22A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Ellipse 70">
            <a:extLst>
              <a:ext uri="{FF2B5EF4-FFF2-40B4-BE49-F238E27FC236}">
                <a16:creationId xmlns:a16="http://schemas.microsoft.com/office/drawing/2014/main" id="{8FFD94B4-8C3F-404D-9C8F-26D2E8E43F67}"/>
              </a:ext>
            </a:extLst>
          </p:cNvPr>
          <p:cNvSpPr/>
          <p:nvPr/>
        </p:nvSpPr>
        <p:spPr>
          <a:xfrm>
            <a:off x="11790310" y="6449877"/>
            <a:ext cx="371924" cy="371924"/>
          </a:xfrm>
          <a:prstGeom prst="ellipse">
            <a:avLst/>
          </a:prstGeom>
          <a:solidFill>
            <a:schemeClr val="bg1"/>
          </a:solidFill>
          <a:ln>
            <a:solidFill>
              <a:srgbClr val="971E9E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59" name="Picture 2" descr="stick_figure_at_podium_with_pointer_anim_500_wht_6795">
            <a:extLst>
              <a:ext uri="{FF2B5EF4-FFF2-40B4-BE49-F238E27FC236}">
                <a16:creationId xmlns:a16="http://schemas.microsoft.com/office/drawing/2014/main" id="{6C4A483A-60A4-4668-B8F0-6C6FE2B57BC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219" y="356076"/>
            <a:ext cx="1521606" cy="164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252078A-C989-4CBE-A158-82CCB1A358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2" b="12833"/>
          <a:stretch/>
        </p:blipFill>
        <p:spPr>
          <a:xfrm rot="777576">
            <a:off x="-152257" y="1295910"/>
            <a:ext cx="4174886" cy="18751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00A0A86-DCD7-49D9-B925-7879A3660290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4" t="4347" r="8240" b="5217"/>
          <a:stretch/>
        </p:blipFill>
        <p:spPr bwMode="auto">
          <a:xfrm>
            <a:off x="4645625" y="1159321"/>
            <a:ext cx="838200" cy="8305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8" name="Groupe 56">
            <a:extLst>
              <a:ext uri="{FF2B5EF4-FFF2-40B4-BE49-F238E27FC236}">
                <a16:creationId xmlns:a16="http://schemas.microsoft.com/office/drawing/2014/main" id="{64B8EADF-E2F2-4506-86B8-CB30683879F0}"/>
              </a:ext>
            </a:extLst>
          </p:cNvPr>
          <p:cNvGrpSpPr/>
          <p:nvPr/>
        </p:nvGrpSpPr>
        <p:grpSpPr>
          <a:xfrm>
            <a:off x="5783156" y="216094"/>
            <a:ext cx="3307622" cy="1747057"/>
            <a:chOff x="-153937" y="1734988"/>
            <a:chExt cx="3663950" cy="2581490"/>
          </a:xfrm>
        </p:grpSpPr>
        <p:sp>
          <p:nvSpPr>
            <p:cNvPr id="29" name="ZoneTexte 57">
              <a:extLst>
                <a:ext uri="{FF2B5EF4-FFF2-40B4-BE49-F238E27FC236}">
                  <a16:creationId xmlns:a16="http://schemas.microsoft.com/office/drawing/2014/main" id="{485BB599-9540-4827-BA19-80265000B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3937" y="1734988"/>
              <a:ext cx="3663950" cy="955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en-US" sz="1800" b="1" i="1" dirty="0" err="1">
                  <a:latin typeface="Times New Roman" panose="02020603050405020304" pitchFamily="18" charset="0"/>
                </a:rPr>
                <a:t>Development</a:t>
              </a:r>
              <a:r>
                <a:rPr lang="fr-FR" altLang="en-US" sz="1800" b="1" i="1" dirty="0">
                  <a:latin typeface="Times New Roman" panose="02020603050405020304" pitchFamily="18" charset="0"/>
                </a:rPr>
                <a:t> of Mobile and Web applications</a:t>
              </a:r>
              <a:endParaRPr lang="fr-FR" altLang="en-US" sz="1600" b="1" i="1" dirty="0">
                <a:latin typeface="Times New Roman" panose="02020603050405020304" pitchFamily="18" charset="0"/>
              </a:endParaRPr>
            </a:p>
          </p:txBody>
        </p:sp>
        <p:pic>
          <p:nvPicPr>
            <p:cNvPr id="30" name="Image 58">
              <a:extLst>
                <a:ext uri="{FF2B5EF4-FFF2-40B4-BE49-F238E27FC236}">
                  <a16:creationId xmlns:a16="http://schemas.microsoft.com/office/drawing/2014/main" id="{A258023A-672A-4C87-A1D2-35C3A6D19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214" y="2722848"/>
              <a:ext cx="2831648" cy="159363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31" name="Groupe 59">
            <a:extLst>
              <a:ext uri="{FF2B5EF4-FFF2-40B4-BE49-F238E27FC236}">
                <a16:creationId xmlns:a16="http://schemas.microsoft.com/office/drawing/2014/main" id="{1482EAF8-461E-49D4-A592-235E1ADF2A37}"/>
              </a:ext>
            </a:extLst>
          </p:cNvPr>
          <p:cNvGrpSpPr/>
          <p:nvPr/>
        </p:nvGrpSpPr>
        <p:grpSpPr>
          <a:xfrm>
            <a:off x="6007820" y="2531466"/>
            <a:ext cx="2501286" cy="1957231"/>
            <a:chOff x="-14944" y="2242742"/>
            <a:chExt cx="2834450" cy="2462475"/>
          </a:xfrm>
        </p:grpSpPr>
        <p:sp>
          <p:nvSpPr>
            <p:cNvPr id="32" name="ZoneTexte 60">
              <a:extLst>
                <a:ext uri="{FF2B5EF4-FFF2-40B4-BE49-F238E27FC236}">
                  <a16:creationId xmlns:a16="http://schemas.microsoft.com/office/drawing/2014/main" id="{E33CB853-FE4D-4FBE-ADAB-EF86BDE9D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44" y="2242742"/>
              <a:ext cx="2766921" cy="896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en-US" sz="1800" b="1" i="1" dirty="0">
                  <a:latin typeface="Times New Roman" panose="02020603050405020304" pitchFamily="18" charset="0"/>
                </a:rPr>
                <a:t>System and Networking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en-US" sz="1800" b="1" i="1" dirty="0">
                  <a:latin typeface="Times New Roman" panose="02020603050405020304" pitchFamily="18" charset="0"/>
                </a:rPr>
                <a:t>Training</a:t>
              </a:r>
            </a:p>
          </p:txBody>
        </p:sp>
        <p:pic>
          <p:nvPicPr>
            <p:cNvPr id="48" name="Image 61">
              <a:extLst>
                <a:ext uri="{FF2B5EF4-FFF2-40B4-BE49-F238E27FC236}">
                  <a16:creationId xmlns:a16="http://schemas.microsoft.com/office/drawing/2014/main" id="{06003133-CA1D-42C9-86C8-79B08BAAD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923" y="3042309"/>
              <a:ext cx="2692583" cy="166290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50EF56-580F-4349-9637-F11B3CBE774D}"/>
              </a:ext>
            </a:extLst>
          </p:cNvPr>
          <p:cNvGrpSpPr/>
          <p:nvPr/>
        </p:nvGrpSpPr>
        <p:grpSpPr>
          <a:xfrm>
            <a:off x="1640693" y="3411480"/>
            <a:ext cx="3472577" cy="1077218"/>
            <a:chOff x="-110232" y="4454358"/>
            <a:chExt cx="2526834" cy="840659"/>
          </a:xfrm>
          <a:solidFill>
            <a:schemeClr val="bg1"/>
          </a:solidFill>
        </p:grpSpPr>
        <p:sp>
          <p:nvSpPr>
            <p:cNvPr id="60" name="ZoneTexte 39">
              <a:extLst>
                <a:ext uri="{FF2B5EF4-FFF2-40B4-BE49-F238E27FC236}">
                  <a16:creationId xmlns:a16="http://schemas.microsoft.com/office/drawing/2014/main" id="{01D28CD1-DB95-462D-9F31-15358E35A107}"/>
                </a:ext>
              </a:extLst>
            </p:cNvPr>
            <p:cNvSpPr txBox="1"/>
            <p:nvPr/>
          </p:nvSpPr>
          <p:spPr>
            <a:xfrm>
              <a:off x="540691" y="4454358"/>
              <a:ext cx="1875911" cy="84065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 innovative solutions that meet the specific needs of African populations</a:t>
              </a:r>
              <a:r>
                <a:rPr lang="en-US" sz="1600" dirty="0"/>
                <a:t>.</a:t>
              </a:r>
              <a:endParaRPr lang="fr-FR" sz="1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D1B9196-CC7D-4CF1-B3F2-D08A0AFB0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10232" y="4475161"/>
              <a:ext cx="650923" cy="75724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953836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7" y="255323"/>
            <a:ext cx="388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Context &amp; Problematic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080AFE29-730A-4E86-BC68-D571D3110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997" y="1650498"/>
            <a:ext cx="2816406" cy="2816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7D505A-164F-4AEB-82C8-39D6EE608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0" y="781474"/>
            <a:ext cx="5486400" cy="411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72AFA-062E-4F81-866B-AA12ACDA5A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659"/>
          <a:stretch/>
        </p:blipFill>
        <p:spPr>
          <a:xfrm>
            <a:off x="1856995" y="778794"/>
            <a:ext cx="583641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Shape 15"/>
          <p:cNvSpPr/>
          <p:nvPr/>
        </p:nvSpPr>
        <p:spPr>
          <a:xfrm>
            <a:off x="67777" y="5227320"/>
            <a:ext cx="8412480" cy="1371600"/>
          </a:xfrm>
          <a:prstGeom prst="rect">
            <a:avLst/>
          </a:prstGeom>
          <a:solidFill>
            <a:srgbClr val="FFF8E1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6142" y="5842000"/>
            <a:ext cx="466344" cy="4663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83" y="5887720"/>
            <a:ext cx="374904" cy="37490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20877" y="495808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help the Public Services  to perform a more rapid Intervention when an Incident is reported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7" y="255323"/>
            <a:ext cx="388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Context &amp; Problematic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272AFA-062E-4F81-866B-AA12ACDA5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659"/>
          <a:stretch/>
        </p:blipFill>
        <p:spPr>
          <a:xfrm rot="20073426">
            <a:off x="414197" y="1329291"/>
            <a:ext cx="3823076" cy="2877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36FCF1-B1DD-4E8F-918C-72396E9AE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32127">
            <a:off x="2220622" y="1094916"/>
            <a:ext cx="3887813" cy="2915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DBD7C4-7748-49BD-91BD-3E5BB8B92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62504">
            <a:off x="4156341" y="1517607"/>
            <a:ext cx="4654423" cy="272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03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0C5AE67-6E8B-4F70-BE8B-0C8A4E4F3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15153">
            <a:off x="3427869" y="4202419"/>
            <a:ext cx="853558" cy="498926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7" y="255323"/>
            <a:ext cx="388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Context &amp; Problematic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1C7AE-BA0E-4A95-935C-AA882C1FD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420" y="2499756"/>
            <a:ext cx="2263227" cy="226322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E73856A-819D-4832-B0BC-D62BF61C20B1}"/>
              </a:ext>
            </a:extLst>
          </p:cNvPr>
          <p:cNvGrpSpPr/>
          <p:nvPr/>
        </p:nvGrpSpPr>
        <p:grpSpPr>
          <a:xfrm>
            <a:off x="3098799" y="428480"/>
            <a:ext cx="5505027" cy="2799766"/>
            <a:chOff x="3098799" y="428480"/>
            <a:chExt cx="5505027" cy="2799766"/>
          </a:xfrm>
        </p:grpSpPr>
        <p:sp>
          <p:nvSpPr>
            <p:cNvPr id="6" name="Thought Bubble: Cloud 5">
              <a:extLst>
                <a:ext uri="{FF2B5EF4-FFF2-40B4-BE49-F238E27FC236}">
                  <a16:creationId xmlns:a16="http://schemas.microsoft.com/office/drawing/2014/main" id="{40314F6D-5E23-4ACA-965D-B459E3E1AF72}"/>
                </a:ext>
              </a:extLst>
            </p:cNvPr>
            <p:cNvSpPr/>
            <p:nvPr/>
          </p:nvSpPr>
          <p:spPr>
            <a:xfrm>
              <a:off x="3098799" y="428480"/>
              <a:ext cx="5505027" cy="2799766"/>
            </a:xfrm>
            <a:prstGeom prst="cloudCallout">
              <a:avLst>
                <a:gd name="adj1" fmla="val -42726"/>
                <a:gd name="adj2" fmla="val 5139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Text 17"/>
            <p:cNvSpPr/>
            <p:nvPr/>
          </p:nvSpPr>
          <p:spPr>
            <a:xfrm>
              <a:off x="3685960" y="890145"/>
              <a:ext cx="4452199" cy="16089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How can we help the Public Services  to perform a more rapid Intervention when an Incident is reported </a:t>
              </a:r>
              <a:r>
                <a: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?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978E1517-5188-42D9-A1D8-E1C57558FC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659"/>
          <a:stretch/>
        </p:blipFill>
        <p:spPr>
          <a:xfrm rot="21348123">
            <a:off x="1409953" y="4298759"/>
            <a:ext cx="613463" cy="557886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546A02A-3C1F-45C6-B527-3864E9E99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659" y="4451882"/>
            <a:ext cx="888280" cy="666210"/>
          </a:xfrm>
          <a:prstGeom prst="rect">
            <a:avLst/>
          </a:prstGeom>
          <a:scene3d>
            <a:camera prst="isometricOffAxis1To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856210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FDA3F4-265B-4D68-BAFA-8955CD68CAD8}"/>
              </a:ext>
            </a:extLst>
          </p:cNvPr>
          <p:cNvGrpSpPr/>
          <p:nvPr/>
        </p:nvGrpSpPr>
        <p:grpSpPr>
          <a:xfrm>
            <a:off x="126726" y="231704"/>
            <a:ext cx="4648474" cy="927617"/>
            <a:chOff x="126726" y="231704"/>
            <a:chExt cx="4648474" cy="927617"/>
          </a:xfrm>
        </p:grpSpPr>
        <p:sp>
          <p:nvSpPr>
            <p:cNvPr id="23" name="ZoneTexte 28">
              <a:extLst>
                <a:ext uri="{FF2B5EF4-FFF2-40B4-BE49-F238E27FC236}">
                  <a16:creationId xmlns:a16="http://schemas.microsoft.com/office/drawing/2014/main" id="{6C6CD5E6-3770-4AD7-8235-F55C171B7A3D}"/>
                </a:ext>
              </a:extLst>
            </p:cNvPr>
            <p:cNvSpPr txBox="1"/>
            <p:nvPr/>
          </p:nvSpPr>
          <p:spPr>
            <a:xfrm>
              <a:off x="887387" y="255323"/>
              <a:ext cx="38878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Lucida Fax" panose="02060602050505020204" pitchFamily="18" charset="0"/>
                </a:rPr>
                <a:t>Proposed Solution</a:t>
              </a:r>
            </a:p>
          </p:txBody>
        </p:sp>
        <p:grpSp>
          <p:nvGrpSpPr>
            <p:cNvPr id="25" name="Groupe 34">
              <a:extLst>
                <a:ext uri="{FF2B5EF4-FFF2-40B4-BE49-F238E27FC236}">
                  <a16:creationId xmlns:a16="http://schemas.microsoft.com/office/drawing/2014/main" id="{402F9346-DA18-42C1-AE71-F4EEE3464398}"/>
                </a:ext>
              </a:extLst>
            </p:cNvPr>
            <p:cNvGrpSpPr/>
            <p:nvPr/>
          </p:nvGrpSpPr>
          <p:grpSpPr>
            <a:xfrm>
              <a:off x="126726" y="231704"/>
              <a:ext cx="927625" cy="927617"/>
              <a:chOff x="1511678" y="1540202"/>
              <a:chExt cx="927625" cy="927617"/>
            </a:xfrm>
          </p:grpSpPr>
          <p:sp>
            <p:nvSpPr>
              <p:cNvPr id="26" name="Cadre 32">
                <a:extLst>
                  <a:ext uri="{FF2B5EF4-FFF2-40B4-BE49-F238E27FC236}">
                    <a16:creationId xmlns:a16="http://schemas.microsoft.com/office/drawing/2014/main" id="{BFA1EF89-993C-42B3-A3F4-7E08A4138C2B}"/>
                  </a:ext>
                </a:extLst>
              </p:cNvPr>
              <p:cNvSpPr/>
              <p:nvPr/>
            </p:nvSpPr>
            <p:spPr>
              <a:xfrm>
                <a:off x="1511678" y="1540202"/>
                <a:ext cx="465115" cy="465115"/>
              </a:xfrm>
              <a:prstGeom prst="frame">
                <a:avLst/>
              </a:pr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Cadre 33">
                <a:extLst>
                  <a:ext uri="{FF2B5EF4-FFF2-40B4-BE49-F238E27FC236}">
                    <a16:creationId xmlns:a16="http://schemas.microsoft.com/office/drawing/2014/main" id="{B7EEA999-4798-4866-BF28-A29E2955D8CE}"/>
                  </a:ext>
                </a:extLst>
              </p:cNvPr>
              <p:cNvSpPr/>
              <p:nvPr/>
            </p:nvSpPr>
            <p:spPr>
              <a:xfrm>
                <a:off x="1974188" y="2002704"/>
                <a:ext cx="465115" cy="465115"/>
              </a:xfrm>
              <a:prstGeom prst="fram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FBB73-48AA-4C25-82D5-5F41E269A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2" y="1173162"/>
            <a:ext cx="2797175" cy="2797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25387608-5A0D-45C7-8191-4BB68E29E453}"/>
              </a:ext>
            </a:extLst>
          </p:cNvPr>
          <p:cNvSpPr/>
          <p:nvPr/>
        </p:nvSpPr>
        <p:spPr>
          <a:xfrm>
            <a:off x="3186111" y="3361679"/>
            <a:ext cx="3178177" cy="1781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gradFill>
                  <a:gsLst>
                    <a:gs pos="61000">
                      <a:schemeClr val="accent1">
                        <a:lumMod val="5000"/>
                        <a:lumOff val="95000"/>
                      </a:schemeClr>
                    </a:gs>
                    <a:gs pos="12000">
                      <a:schemeClr val="accent1">
                        <a:lumMod val="45000"/>
                        <a:lumOff val="55000"/>
                      </a:schemeClr>
                    </a:gs>
                    <a:gs pos="44000">
                      <a:schemeClr val="bg1"/>
                    </a:gs>
                    <a:gs pos="91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rial Rounded MT Bold" panose="020F07040305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SOSReport</a:t>
            </a:r>
            <a:endParaRPr lang="en-US" sz="4000" dirty="0">
              <a:gradFill>
                <a:gsLst>
                  <a:gs pos="61000">
                    <a:schemeClr val="accent1">
                      <a:lumMod val="5000"/>
                      <a:lumOff val="95000"/>
                    </a:schemeClr>
                  </a:gs>
                  <a:gs pos="12000">
                    <a:schemeClr val="accent1">
                      <a:lumMod val="45000"/>
                      <a:lumOff val="55000"/>
                    </a:schemeClr>
                  </a:gs>
                  <a:gs pos="44000">
                    <a:schemeClr val="bg1"/>
                  </a:gs>
                  <a:gs pos="91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Arial Rounded MT Bold" panose="020F07040305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0987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7" y="255323"/>
            <a:ext cx="388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Project Objectives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4A6EF049-F8FC-4289-98B8-BB1CCC4E969E}"/>
              </a:ext>
            </a:extLst>
          </p:cNvPr>
          <p:cNvSpPr/>
          <p:nvPr/>
        </p:nvSpPr>
        <p:spPr>
          <a:xfrm>
            <a:off x="420624" y="171450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F0253D4-F157-4979-A79E-20D0D5E3FF17}"/>
              </a:ext>
            </a:extLst>
          </p:cNvPr>
          <p:cNvSpPr/>
          <p:nvPr/>
        </p:nvSpPr>
        <p:spPr>
          <a:xfrm>
            <a:off x="420624" y="1714500"/>
            <a:ext cx="54864" cy="1051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B9FC793-CDB6-471B-896E-F1FA7CAEAD4C}"/>
              </a:ext>
            </a:extLst>
          </p:cNvPr>
          <p:cNvSpPr/>
          <p:nvPr/>
        </p:nvSpPr>
        <p:spPr>
          <a:xfrm>
            <a:off x="585216" y="185166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F63C8DA-EF2A-4361-BF9A-DC0652A8D0DF}"/>
              </a:ext>
            </a:extLst>
          </p:cNvPr>
          <p:cNvSpPr/>
          <p:nvPr/>
        </p:nvSpPr>
        <p:spPr>
          <a:xfrm>
            <a:off x="585216" y="18516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E766D346-E742-4BF5-8354-19501FAD5380}"/>
              </a:ext>
            </a:extLst>
          </p:cNvPr>
          <p:cNvSpPr/>
          <p:nvPr/>
        </p:nvSpPr>
        <p:spPr>
          <a:xfrm>
            <a:off x="1170432" y="18059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citizens to quickly report via their phone, safety incidents they encounter,</a:t>
            </a:r>
            <a:endParaRPr lang="en-US" sz="120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29D8F676-CE87-4ED9-A87E-BDFF1DB543BD}"/>
              </a:ext>
            </a:extLst>
          </p:cNvPr>
          <p:cNvSpPr/>
          <p:nvPr/>
        </p:nvSpPr>
        <p:spPr>
          <a:xfrm>
            <a:off x="4718304" y="171450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D15B58B6-FFB4-4470-8281-125A3C9812CE}"/>
              </a:ext>
            </a:extLst>
          </p:cNvPr>
          <p:cNvSpPr/>
          <p:nvPr/>
        </p:nvSpPr>
        <p:spPr>
          <a:xfrm>
            <a:off x="4718304" y="1714500"/>
            <a:ext cx="54864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B59F253B-91C9-4662-94FA-4D52FE5A60C9}"/>
              </a:ext>
            </a:extLst>
          </p:cNvPr>
          <p:cNvSpPr/>
          <p:nvPr/>
        </p:nvSpPr>
        <p:spPr>
          <a:xfrm>
            <a:off x="4882896" y="185166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26356AD7-0DA7-4CF1-B7EC-5BAD490DA6A3}"/>
              </a:ext>
            </a:extLst>
          </p:cNvPr>
          <p:cNvSpPr/>
          <p:nvPr/>
        </p:nvSpPr>
        <p:spPr>
          <a:xfrm>
            <a:off x="4882896" y="18516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7627B863-5F1F-4F10-88F5-8853C40333CC}"/>
              </a:ext>
            </a:extLst>
          </p:cNvPr>
          <p:cNvSpPr/>
          <p:nvPr/>
        </p:nvSpPr>
        <p:spPr>
          <a:xfrm>
            <a:off x="5468112" y="18059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Emergency services with necessary evidences concerning an incident reported,</a:t>
            </a:r>
            <a:endParaRPr lang="en-US" sz="120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F02B7137-8178-4966-B134-5660AD8C46FF}"/>
              </a:ext>
            </a:extLst>
          </p:cNvPr>
          <p:cNvSpPr/>
          <p:nvPr/>
        </p:nvSpPr>
        <p:spPr>
          <a:xfrm>
            <a:off x="420624" y="294894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3F040D96-C049-4C1C-8390-AA91911E81C5}"/>
              </a:ext>
            </a:extLst>
          </p:cNvPr>
          <p:cNvSpPr/>
          <p:nvPr/>
        </p:nvSpPr>
        <p:spPr>
          <a:xfrm>
            <a:off x="420624" y="2948940"/>
            <a:ext cx="54864" cy="10515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B9C4083B-D810-4938-8787-3DCB3D23A975}"/>
              </a:ext>
            </a:extLst>
          </p:cNvPr>
          <p:cNvSpPr/>
          <p:nvPr/>
        </p:nvSpPr>
        <p:spPr>
          <a:xfrm>
            <a:off x="585216" y="308610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E61B8F85-F03A-4EE5-89CE-E3C274EDF966}"/>
              </a:ext>
            </a:extLst>
          </p:cNvPr>
          <p:cNvSpPr/>
          <p:nvPr/>
        </p:nvSpPr>
        <p:spPr>
          <a:xfrm>
            <a:off x="585216" y="30861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A9553BEA-4BF9-48B8-9272-6988727A78B3}"/>
              </a:ext>
            </a:extLst>
          </p:cNvPr>
          <p:cNvSpPr/>
          <p:nvPr/>
        </p:nvSpPr>
        <p:spPr>
          <a:xfrm>
            <a:off x="1170432" y="30403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nearby citizens to be aware of critical incidents occurring in their present area,</a:t>
            </a:r>
            <a:endParaRPr lang="en-US" sz="120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DD4A5895-45B0-4D7F-AC59-9150C6416E85}"/>
              </a:ext>
            </a:extLst>
          </p:cNvPr>
          <p:cNvSpPr/>
          <p:nvPr/>
        </p:nvSpPr>
        <p:spPr>
          <a:xfrm>
            <a:off x="4718304" y="2948940"/>
            <a:ext cx="3931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E91FEE61-8ABA-4450-9123-3B1F4BF8CA5B}"/>
              </a:ext>
            </a:extLst>
          </p:cNvPr>
          <p:cNvSpPr/>
          <p:nvPr/>
        </p:nvSpPr>
        <p:spPr>
          <a:xfrm>
            <a:off x="4718304" y="2948940"/>
            <a:ext cx="54864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8206D050-086F-4F3B-97DE-1F880AC1CCE2}"/>
              </a:ext>
            </a:extLst>
          </p:cNvPr>
          <p:cNvSpPr/>
          <p:nvPr/>
        </p:nvSpPr>
        <p:spPr>
          <a:xfrm>
            <a:off x="4882896" y="308610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E250AF43-0CB4-4FE4-A914-15CECEB59AED}"/>
              </a:ext>
            </a:extLst>
          </p:cNvPr>
          <p:cNvSpPr/>
          <p:nvPr/>
        </p:nvSpPr>
        <p:spPr>
          <a:xfrm>
            <a:off x="4882896" y="30861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E4FD957E-E4C3-42EA-A29F-D53CEFD6021C}"/>
              </a:ext>
            </a:extLst>
          </p:cNvPr>
          <p:cNvSpPr/>
          <p:nvPr/>
        </p:nvSpPr>
        <p:spPr>
          <a:xfrm>
            <a:off x="5468112" y="30403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Emergency services with tools that will help them to track citizens which find their leisure in reporting false incident alerts</a:t>
            </a:r>
            <a:endParaRPr lang="en-US" sz="1200" dirty="0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C9CF7F4B-BE47-4D4A-83D1-5D14A0D16364}"/>
              </a:ext>
            </a:extLst>
          </p:cNvPr>
          <p:cNvSpPr/>
          <p:nvPr/>
        </p:nvSpPr>
        <p:spPr>
          <a:xfrm>
            <a:off x="1192101" y="1234440"/>
            <a:ext cx="3503936" cy="24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a digital interface that will :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744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12">
            <a:extLst>
              <a:ext uri="{FF2B5EF4-FFF2-40B4-BE49-F238E27FC236}">
                <a16:creationId xmlns:a16="http://schemas.microsoft.com/office/drawing/2014/main" id="{A19A4187-260F-4F9A-9908-8B7C0D2B439C}"/>
              </a:ext>
            </a:extLst>
          </p:cNvPr>
          <p:cNvGrpSpPr/>
          <p:nvPr/>
        </p:nvGrpSpPr>
        <p:grpSpPr>
          <a:xfrm>
            <a:off x="115896" y="1063296"/>
            <a:ext cx="3290406" cy="2607220"/>
            <a:chOff x="336881" y="296956"/>
            <a:chExt cx="4883597" cy="3552817"/>
          </a:xfrm>
        </p:grpSpPr>
        <p:pic>
          <p:nvPicPr>
            <p:cNvPr id="67" name="Graphic 10">
              <a:extLst>
                <a:ext uri="{FF2B5EF4-FFF2-40B4-BE49-F238E27FC236}">
                  <a16:creationId xmlns:a16="http://schemas.microsoft.com/office/drawing/2014/main" id="{BA1A0138-DDDD-463E-A227-F7A2FF3C4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6881" y="296956"/>
              <a:ext cx="4883597" cy="3552817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11726BB-AC01-48AF-9578-76F8652AA51C}"/>
                </a:ext>
              </a:extLst>
            </p:cNvPr>
            <p:cNvSpPr/>
            <p:nvPr/>
          </p:nvSpPr>
          <p:spPr>
            <a:xfrm>
              <a:off x="372723" y="3242079"/>
              <a:ext cx="1988392" cy="6076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2">
                      <a:lumMod val="75000"/>
                    </a:schemeClr>
                  </a:solidFill>
                  <a:latin typeface="Rockwell" panose="02060603020205020403" pitchFamily="18" charset="0"/>
                </a:rPr>
                <a:t>Version 2.5</a:t>
              </a:r>
              <a:endParaRPr lang="en-US" sz="20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781537" y="-1112886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801471" y="3813477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5441515" y="3935659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80" name="Group 42">
            <a:extLst>
              <a:ext uri="{FF2B5EF4-FFF2-40B4-BE49-F238E27FC236}">
                <a16:creationId xmlns:a16="http://schemas.microsoft.com/office/drawing/2014/main" id="{636A6445-BE2C-4928-A219-CCD7A79D2304}"/>
              </a:ext>
            </a:extLst>
          </p:cNvPr>
          <p:cNvGrpSpPr/>
          <p:nvPr/>
        </p:nvGrpSpPr>
        <p:grpSpPr>
          <a:xfrm>
            <a:off x="3819715" y="236464"/>
            <a:ext cx="5159031" cy="4514621"/>
            <a:chOff x="0" y="824882"/>
            <a:chExt cx="7275698" cy="5849425"/>
          </a:xfrm>
        </p:grpSpPr>
        <p:grpSp>
          <p:nvGrpSpPr>
            <p:cNvPr id="81" name="Group 20">
              <a:extLst>
                <a:ext uri="{FF2B5EF4-FFF2-40B4-BE49-F238E27FC236}">
                  <a16:creationId xmlns:a16="http://schemas.microsoft.com/office/drawing/2014/main" id="{D2B6F89E-4FA7-4830-941E-6B835414A972}"/>
                </a:ext>
              </a:extLst>
            </p:cNvPr>
            <p:cNvGrpSpPr/>
            <p:nvPr/>
          </p:nvGrpSpPr>
          <p:grpSpPr>
            <a:xfrm>
              <a:off x="1516743" y="1545771"/>
              <a:ext cx="4086434" cy="5128536"/>
              <a:chOff x="221343" y="674914"/>
              <a:chExt cx="4086434" cy="5128536"/>
            </a:xfrm>
          </p:grpSpPr>
          <p:cxnSp>
            <p:nvCxnSpPr>
              <p:cNvPr id="92" name="Straight Connector 17">
                <a:extLst>
                  <a:ext uri="{FF2B5EF4-FFF2-40B4-BE49-F238E27FC236}">
                    <a16:creationId xmlns:a16="http://schemas.microsoft.com/office/drawing/2014/main" id="{7C6C5F36-AF25-4FAC-81C7-957E818A70AD}"/>
                  </a:ext>
                </a:extLst>
              </p:cNvPr>
              <p:cNvCxnSpPr/>
              <p:nvPr/>
            </p:nvCxnSpPr>
            <p:spPr>
              <a:xfrm flipH="1">
                <a:off x="2264560" y="2905830"/>
                <a:ext cx="1" cy="2897620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18">
                <a:extLst>
                  <a:ext uri="{FF2B5EF4-FFF2-40B4-BE49-F238E27FC236}">
                    <a16:creationId xmlns:a16="http://schemas.microsoft.com/office/drawing/2014/main" id="{FBC1C0A2-2C4F-4C58-8280-6A614F16F4CB}"/>
                  </a:ext>
                </a:extLst>
              </p:cNvPr>
              <p:cNvCxnSpPr/>
              <p:nvPr/>
            </p:nvCxnSpPr>
            <p:spPr>
              <a:xfrm>
                <a:off x="221343" y="801480"/>
                <a:ext cx="2043217" cy="2104350"/>
              </a:xfrm>
              <a:prstGeom prst="line">
                <a:avLst/>
              </a:prstGeom>
              <a:ln w="149225">
                <a:solidFill>
                  <a:srgbClr val="971E9E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19">
                <a:extLst>
                  <a:ext uri="{FF2B5EF4-FFF2-40B4-BE49-F238E27FC236}">
                    <a16:creationId xmlns:a16="http://schemas.microsoft.com/office/drawing/2014/main" id="{813A9D82-516F-4142-A9A7-89A9780DB9FD}"/>
                  </a:ext>
                </a:extLst>
              </p:cNvPr>
              <p:cNvCxnSpPr/>
              <p:nvPr/>
            </p:nvCxnSpPr>
            <p:spPr>
              <a:xfrm flipH="1">
                <a:off x="2264562" y="674914"/>
                <a:ext cx="2043215" cy="2230916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43">
                <a:extLst>
                  <a:ext uri="{FF2B5EF4-FFF2-40B4-BE49-F238E27FC236}">
                    <a16:creationId xmlns:a16="http://schemas.microsoft.com/office/drawing/2014/main" id="{6438235F-57A3-4446-BC8B-8F2EDC59B153}"/>
                  </a:ext>
                </a:extLst>
              </p:cNvPr>
              <p:cNvCxnSpPr/>
              <p:nvPr/>
            </p:nvCxnSpPr>
            <p:spPr>
              <a:xfrm flipH="1">
                <a:off x="2264559" y="2905830"/>
                <a:ext cx="1" cy="2897620"/>
              </a:xfrm>
              <a:prstGeom prst="line">
                <a:avLst/>
              </a:prstGeom>
              <a:ln w="149225">
                <a:solidFill>
                  <a:srgbClr val="971E9E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44">
                <a:extLst>
                  <a:ext uri="{FF2B5EF4-FFF2-40B4-BE49-F238E27FC236}">
                    <a16:creationId xmlns:a16="http://schemas.microsoft.com/office/drawing/2014/main" id="{AC7443E0-F979-4AA9-9124-52811DB993A8}"/>
                  </a:ext>
                </a:extLst>
              </p:cNvPr>
              <p:cNvCxnSpPr/>
              <p:nvPr/>
            </p:nvCxnSpPr>
            <p:spPr>
              <a:xfrm flipH="1">
                <a:off x="2264561" y="674914"/>
                <a:ext cx="2043215" cy="2230916"/>
              </a:xfrm>
              <a:prstGeom prst="line">
                <a:avLst/>
              </a:prstGeom>
              <a:ln w="149225">
                <a:solidFill>
                  <a:srgbClr val="971E9E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D61EF9A-E390-49D5-9D76-A69C45BA3EAB}"/>
                </a:ext>
              </a:extLst>
            </p:cNvPr>
            <p:cNvSpPr/>
            <p:nvPr/>
          </p:nvSpPr>
          <p:spPr>
            <a:xfrm>
              <a:off x="4180423" y="6137192"/>
              <a:ext cx="2993571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Realization Branch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275D501-1BBC-4EA4-9BC9-9DF88480DB03}"/>
                </a:ext>
              </a:extLst>
            </p:cNvPr>
            <p:cNvSpPr/>
            <p:nvPr/>
          </p:nvSpPr>
          <p:spPr>
            <a:xfrm>
              <a:off x="4034478" y="824882"/>
              <a:ext cx="2820716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Technical Branch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17DA986-DB61-4ED6-A64B-9174EE46D678}"/>
                </a:ext>
              </a:extLst>
            </p:cNvPr>
            <p:cNvSpPr/>
            <p:nvPr/>
          </p:nvSpPr>
          <p:spPr>
            <a:xfrm>
              <a:off x="0" y="1045029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 err="1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Functional</a:t>
              </a:r>
              <a:r>
                <a:rPr lang="fr-FR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 Branch</a:t>
              </a:r>
              <a:endParaRPr lang="en-US" sz="2000" dirty="0">
                <a:solidFill>
                  <a:sysClr val="windowText" lastClr="000000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85" name="Rectangle: Rounded Corners 27">
              <a:extLst>
                <a:ext uri="{FF2B5EF4-FFF2-40B4-BE49-F238E27FC236}">
                  <a16:creationId xmlns:a16="http://schemas.microsoft.com/office/drawing/2014/main" id="{D885722D-C357-4FD1-A87C-118FF39A0DAA}"/>
                </a:ext>
              </a:extLst>
            </p:cNvPr>
            <p:cNvSpPr/>
            <p:nvPr/>
          </p:nvSpPr>
          <p:spPr>
            <a:xfrm>
              <a:off x="511628" y="1873030"/>
              <a:ext cx="2856177" cy="647833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Rockwell" panose="02060603020205020403" pitchFamily="18" charset="0"/>
                </a:rPr>
                <a:t>Capture of </a:t>
              </a:r>
              <a:r>
                <a:rPr lang="fr-FR" sz="1400" dirty="0" err="1">
                  <a:latin typeface="Rockwell" panose="02060603020205020403" pitchFamily="18" charset="0"/>
                </a:rPr>
                <a:t>functional</a:t>
              </a:r>
              <a:r>
                <a:rPr lang="fr-FR" sz="1400" dirty="0">
                  <a:latin typeface="Rockwell" panose="02060603020205020403" pitchFamily="18" charset="0"/>
                </a:rPr>
                <a:t> </a:t>
              </a:r>
              <a:r>
                <a:rPr lang="fr-FR" sz="1400" dirty="0" err="1">
                  <a:latin typeface="Rockwell" panose="02060603020205020403" pitchFamily="18" charset="0"/>
                </a:rPr>
                <a:t>requirement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86" name="Rectangle: Rounded Corners 28">
              <a:extLst>
                <a:ext uri="{FF2B5EF4-FFF2-40B4-BE49-F238E27FC236}">
                  <a16:creationId xmlns:a16="http://schemas.microsoft.com/office/drawing/2014/main" id="{8C85CF1E-3510-43E4-9428-901ED079F879}"/>
                </a:ext>
              </a:extLst>
            </p:cNvPr>
            <p:cNvSpPr/>
            <p:nvPr/>
          </p:nvSpPr>
          <p:spPr>
            <a:xfrm>
              <a:off x="4419520" y="1918279"/>
              <a:ext cx="2856178" cy="560923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Rockwell" panose="02060603020205020403" pitchFamily="18" charset="0"/>
                </a:rPr>
                <a:t>Capture of </a:t>
              </a:r>
              <a:r>
                <a:rPr lang="fr-FR" sz="1400" dirty="0" err="1">
                  <a:latin typeface="Rockwell" panose="02060603020205020403" pitchFamily="18" charset="0"/>
                </a:rPr>
                <a:t>techinal</a:t>
              </a:r>
              <a:r>
                <a:rPr lang="fr-FR" sz="1400" dirty="0">
                  <a:latin typeface="Rockwell" panose="02060603020205020403" pitchFamily="18" charset="0"/>
                </a:rPr>
                <a:t> </a:t>
              </a:r>
              <a:r>
                <a:rPr lang="fr-FR" sz="1400" dirty="0" err="1">
                  <a:latin typeface="Rockwell" panose="02060603020205020403" pitchFamily="18" charset="0"/>
                </a:rPr>
                <a:t>requirement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87" name="Rectangle: Rounded Corners 29">
              <a:extLst>
                <a:ext uri="{FF2B5EF4-FFF2-40B4-BE49-F238E27FC236}">
                  <a16:creationId xmlns:a16="http://schemas.microsoft.com/office/drawing/2014/main" id="{497ED183-1771-46B8-811C-4E664AD82E13}"/>
                </a:ext>
              </a:extLst>
            </p:cNvPr>
            <p:cNvSpPr/>
            <p:nvPr/>
          </p:nvSpPr>
          <p:spPr>
            <a:xfrm>
              <a:off x="1060935" y="2735638"/>
              <a:ext cx="2623770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>
                  <a:latin typeface="Rockwell" panose="02060603020205020403" pitchFamily="18" charset="0"/>
                </a:rPr>
                <a:t>Analysis</a:t>
              </a:r>
              <a:r>
                <a:rPr lang="fr-FR" sz="1400" dirty="0">
                  <a:latin typeface="Rockwell" panose="02060603020205020403" pitchFamily="18" charset="0"/>
                </a:rPr>
                <a:t> 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88" name="Rectangle: Rounded Corners 30">
              <a:extLst>
                <a:ext uri="{FF2B5EF4-FFF2-40B4-BE49-F238E27FC236}">
                  <a16:creationId xmlns:a16="http://schemas.microsoft.com/office/drawing/2014/main" id="{23A23070-78EE-4EC7-AF23-0F87923E25C3}"/>
                </a:ext>
              </a:extLst>
            </p:cNvPr>
            <p:cNvSpPr/>
            <p:nvPr/>
          </p:nvSpPr>
          <p:spPr>
            <a:xfrm>
              <a:off x="3999017" y="2661229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>
                  <a:latin typeface="Rockwell" panose="02060603020205020403" pitchFamily="18" charset="0"/>
                </a:rPr>
                <a:t>Generic</a:t>
              </a:r>
              <a:r>
                <a:rPr lang="fr-FR" sz="1400" dirty="0">
                  <a:latin typeface="Rockwell" panose="02060603020205020403" pitchFamily="18" charset="0"/>
                </a:rPr>
                <a:t> Design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89" name="Rectangle: Rounded Corners 31">
              <a:extLst>
                <a:ext uri="{FF2B5EF4-FFF2-40B4-BE49-F238E27FC236}">
                  <a16:creationId xmlns:a16="http://schemas.microsoft.com/office/drawing/2014/main" id="{C2B4067B-0B41-4447-BAE0-F489840681A5}"/>
                </a:ext>
              </a:extLst>
            </p:cNvPr>
            <p:cNvSpPr/>
            <p:nvPr/>
          </p:nvSpPr>
          <p:spPr>
            <a:xfrm>
              <a:off x="2372819" y="3916136"/>
              <a:ext cx="2316352" cy="666828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Rockwell" panose="02060603020205020403" pitchFamily="18" charset="0"/>
                </a:rPr>
                <a:t>Preliminary design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90" name="Rectangle: Rounded Corners 32">
              <a:extLst>
                <a:ext uri="{FF2B5EF4-FFF2-40B4-BE49-F238E27FC236}">
                  <a16:creationId xmlns:a16="http://schemas.microsoft.com/office/drawing/2014/main" id="{46FD35BB-9359-4824-AD7B-C874E866D17B}"/>
                </a:ext>
              </a:extLst>
            </p:cNvPr>
            <p:cNvSpPr/>
            <p:nvPr/>
          </p:nvSpPr>
          <p:spPr>
            <a:xfrm>
              <a:off x="2401782" y="4740755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>
                  <a:latin typeface="Rockwell" panose="02060603020205020403" pitchFamily="18" charset="0"/>
                </a:rPr>
                <a:t>Detailed</a:t>
              </a:r>
              <a:r>
                <a:rPr lang="fr-FR" sz="1400" dirty="0">
                  <a:latin typeface="Rockwell" panose="02060603020205020403" pitchFamily="18" charset="0"/>
                </a:rPr>
                <a:t> Design</a:t>
              </a:r>
              <a:endParaRPr lang="en-US" sz="1400" dirty="0">
                <a:latin typeface="Rockwell" panose="02060603020205020403" pitchFamily="18" charset="0"/>
              </a:endParaRPr>
            </a:p>
          </p:txBody>
        </p:sp>
        <p:sp>
          <p:nvSpPr>
            <p:cNvPr id="91" name="Rectangle: Rounded Corners 33">
              <a:extLst>
                <a:ext uri="{FF2B5EF4-FFF2-40B4-BE49-F238E27FC236}">
                  <a16:creationId xmlns:a16="http://schemas.microsoft.com/office/drawing/2014/main" id="{A8CB4260-7DF4-4EF3-B568-17EB2310349F}"/>
                </a:ext>
              </a:extLst>
            </p:cNvPr>
            <p:cNvSpPr/>
            <p:nvPr/>
          </p:nvSpPr>
          <p:spPr>
            <a:xfrm>
              <a:off x="2401782" y="5481992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anose="02060603020205020403" pitchFamily="18" charset="0"/>
                </a:rPr>
                <a:t>Coding and tests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5139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D89D74-7AF2-4047-B4BB-1B293DDA0578}"/>
              </a:ext>
            </a:extLst>
          </p:cNvPr>
          <p:cNvSpPr/>
          <p:nvPr/>
        </p:nvSpPr>
        <p:spPr>
          <a:xfrm>
            <a:off x="861296" y="3848765"/>
            <a:ext cx="2787056" cy="500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 Use Case Diagram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465A5F-2CA1-4162-B892-C5D171C5B082}"/>
              </a:ext>
            </a:extLst>
          </p:cNvPr>
          <p:cNvGrpSpPr/>
          <p:nvPr/>
        </p:nvGrpSpPr>
        <p:grpSpPr>
          <a:xfrm>
            <a:off x="114493" y="990541"/>
            <a:ext cx="3559960" cy="2731658"/>
            <a:chOff x="0" y="1045029"/>
            <a:chExt cx="3559960" cy="2731658"/>
          </a:xfrm>
        </p:grpSpPr>
        <p:cxnSp>
          <p:nvCxnSpPr>
            <p:cNvPr id="38" name="Straight Connector 18">
              <a:extLst>
                <a:ext uri="{FF2B5EF4-FFF2-40B4-BE49-F238E27FC236}">
                  <a16:creationId xmlns:a16="http://schemas.microsoft.com/office/drawing/2014/main" id="{953880C8-2FB5-4BA4-AC0D-E717D4C1D5E7}"/>
                </a:ext>
              </a:extLst>
            </p:cNvPr>
            <p:cNvCxnSpPr/>
            <p:nvPr/>
          </p:nvCxnSpPr>
          <p:spPr>
            <a:xfrm>
              <a:off x="1516743" y="1672337"/>
              <a:ext cx="2043217" cy="2104350"/>
            </a:xfrm>
            <a:prstGeom prst="line">
              <a:avLst/>
            </a:prstGeom>
            <a:ln w="149225">
              <a:solidFill>
                <a:srgbClr val="971E9E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4EAA3FC-B320-4913-BDDD-7990A8F3E6E0}"/>
                </a:ext>
              </a:extLst>
            </p:cNvPr>
            <p:cNvSpPr/>
            <p:nvPr/>
          </p:nvSpPr>
          <p:spPr>
            <a:xfrm>
              <a:off x="0" y="1045029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 err="1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Functional</a:t>
              </a:r>
              <a:r>
                <a:rPr lang="fr-FR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 Branch</a:t>
              </a:r>
              <a:endParaRPr lang="en-US" sz="2000" dirty="0">
                <a:solidFill>
                  <a:sysClr val="windowText" lastClr="000000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40" name="Rectangle: Rounded Corners 27">
              <a:extLst>
                <a:ext uri="{FF2B5EF4-FFF2-40B4-BE49-F238E27FC236}">
                  <a16:creationId xmlns:a16="http://schemas.microsoft.com/office/drawing/2014/main" id="{AE5204E0-D841-4A00-91C0-07F932EA9AA4}"/>
                </a:ext>
              </a:extLst>
            </p:cNvPr>
            <p:cNvSpPr/>
            <p:nvPr/>
          </p:nvSpPr>
          <p:spPr>
            <a:xfrm>
              <a:off x="511629" y="1970313"/>
              <a:ext cx="2856178" cy="564349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Rockwell" panose="02060603020205020403" pitchFamily="18" charset="0"/>
                </a:rPr>
                <a:t>Capture of </a:t>
              </a:r>
              <a:r>
                <a:rPr lang="fr-FR" sz="1600" dirty="0" err="1">
                  <a:latin typeface="Rockwell" panose="02060603020205020403" pitchFamily="18" charset="0"/>
                </a:rPr>
                <a:t>functional</a:t>
              </a:r>
              <a:r>
                <a:rPr lang="fr-FR" sz="1600" dirty="0">
                  <a:latin typeface="Rockwell" panose="02060603020205020403" pitchFamily="18" charset="0"/>
                </a:rPr>
                <a:t> </a:t>
              </a:r>
              <a:r>
                <a:rPr lang="fr-FR" sz="1600" dirty="0" err="1">
                  <a:latin typeface="Rockwell" panose="02060603020205020403" pitchFamily="18" charset="0"/>
                </a:rPr>
                <a:t>requirement</a:t>
              </a:r>
              <a:endParaRPr lang="en-US" sz="1600" dirty="0">
                <a:latin typeface="Rockwell" panose="02060603020205020403" pitchFamily="18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DE74B39F-0D33-45AC-9599-9BAF3EBD052E}"/>
                </a:ext>
              </a:extLst>
            </p:cNvPr>
            <p:cNvSpPr/>
            <p:nvPr/>
          </p:nvSpPr>
          <p:spPr>
            <a:xfrm>
              <a:off x="936190" y="2661229"/>
              <a:ext cx="2623770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Rockwell" panose="02060603020205020403" pitchFamily="18" charset="0"/>
                </a:rPr>
                <a:t>Analysis</a:t>
              </a:r>
              <a:r>
                <a:rPr lang="fr-FR" sz="1600" dirty="0">
                  <a:latin typeface="Rockwell" panose="02060603020205020403" pitchFamily="18" charset="0"/>
                </a:rPr>
                <a:t> </a:t>
              </a:r>
              <a:endParaRPr lang="en-US" sz="1600" dirty="0">
                <a:latin typeface="Rockwell" panose="02060603020205020403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496333A-4759-4DF6-9906-82AAE24A9473}"/>
              </a:ext>
            </a:extLst>
          </p:cNvPr>
          <p:cNvGrpSpPr/>
          <p:nvPr/>
        </p:nvGrpSpPr>
        <p:grpSpPr>
          <a:xfrm>
            <a:off x="4160093" y="65787"/>
            <a:ext cx="4357785" cy="4867136"/>
            <a:chOff x="4160093" y="65787"/>
            <a:chExt cx="4357785" cy="486713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4E2C2D-FD29-45B9-8E8B-762E712C8537}"/>
                </a:ext>
              </a:extLst>
            </p:cNvPr>
            <p:cNvSpPr/>
            <p:nvPr/>
          </p:nvSpPr>
          <p:spPr>
            <a:xfrm>
              <a:off x="4160093" y="65787"/>
              <a:ext cx="4357785" cy="48671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9FBDBF5-FE99-40BF-B94B-E5B8A1067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0093" y="65787"/>
              <a:ext cx="4357785" cy="4867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0739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9C71A-5747-430A-8385-47FF72E6FFC5}"/>
              </a:ext>
            </a:extLst>
          </p:cNvPr>
          <p:cNvSpPr/>
          <p:nvPr/>
        </p:nvSpPr>
        <p:spPr>
          <a:xfrm>
            <a:off x="4272184" y="170368"/>
            <a:ext cx="3984428" cy="46196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D89D74-7AF2-4047-B4BB-1B293DDA0578}"/>
              </a:ext>
            </a:extLst>
          </p:cNvPr>
          <p:cNvSpPr/>
          <p:nvPr/>
        </p:nvSpPr>
        <p:spPr>
          <a:xfrm>
            <a:off x="861296" y="3848765"/>
            <a:ext cx="2787056" cy="500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Activity Diagram for Standard Incident Reporting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465A5F-2CA1-4162-B892-C5D171C5B082}"/>
              </a:ext>
            </a:extLst>
          </p:cNvPr>
          <p:cNvGrpSpPr/>
          <p:nvPr/>
        </p:nvGrpSpPr>
        <p:grpSpPr>
          <a:xfrm>
            <a:off x="114493" y="990541"/>
            <a:ext cx="3559960" cy="2731658"/>
            <a:chOff x="0" y="1045029"/>
            <a:chExt cx="3559960" cy="2731658"/>
          </a:xfrm>
        </p:grpSpPr>
        <p:cxnSp>
          <p:nvCxnSpPr>
            <p:cNvPr id="38" name="Straight Connector 18">
              <a:extLst>
                <a:ext uri="{FF2B5EF4-FFF2-40B4-BE49-F238E27FC236}">
                  <a16:creationId xmlns:a16="http://schemas.microsoft.com/office/drawing/2014/main" id="{953880C8-2FB5-4BA4-AC0D-E717D4C1D5E7}"/>
                </a:ext>
              </a:extLst>
            </p:cNvPr>
            <p:cNvCxnSpPr/>
            <p:nvPr/>
          </p:nvCxnSpPr>
          <p:spPr>
            <a:xfrm>
              <a:off x="1516743" y="1672337"/>
              <a:ext cx="2043217" cy="2104350"/>
            </a:xfrm>
            <a:prstGeom prst="line">
              <a:avLst/>
            </a:prstGeom>
            <a:ln w="149225">
              <a:solidFill>
                <a:srgbClr val="971E9E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4EAA3FC-B320-4913-BDDD-7990A8F3E6E0}"/>
                </a:ext>
              </a:extLst>
            </p:cNvPr>
            <p:cNvSpPr/>
            <p:nvPr/>
          </p:nvSpPr>
          <p:spPr>
            <a:xfrm>
              <a:off x="0" y="1045029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 err="1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Functional</a:t>
              </a:r>
              <a:r>
                <a:rPr lang="fr-FR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 Branch</a:t>
              </a:r>
              <a:endParaRPr lang="en-US" sz="2000" dirty="0">
                <a:solidFill>
                  <a:sysClr val="windowText" lastClr="000000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40" name="Rectangle: Rounded Corners 27">
              <a:extLst>
                <a:ext uri="{FF2B5EF4-FFF2-40B4-BE49-F238E27FC236}">
                  <a16:creationId xmlns:a16="http://schemas.microsoft.com/office/drawing/2014/main" id="{AE5204E0-D841-4A00-91C0-07F932EA9AA4}"/>
                </a:ext>
              </a:extLst>
            </p:cNvPr>
            <p:cNvSpPr/>
            <p:nvPr/>
          </p:nvSpPr>
          <p:spPr>
            <a:xfrm>
              <a:off x="511629" y="1970313"/>
              <a:ext cx="2856178" cy="564349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latin typeface="Rockwell" panose="02060603020205020403" pitchFamily="18" charset="0"/>
                </a:rPr>
                <a:t>Capture of </a:t>
              </a:r>
              <a:r>
                <a:rPr lang="fr-FR" sz="1600" dirty="0" err="1">
                  <a:latin typeface="Rockwell" panose="02060603020205020403" pitchFamily="18" charset="0"/>
                </a:rPr>
                <a:t>functional</a:t>
              </a:r>
              <a:r>
                <a:rPr lang="fr-FR" sz="1600" dirty="0">
                  <a:latin typeface="Rockwell" panose="02060603020205020403" pitchFamily="18" charset="0"/>
                </a:rPr>
                <a:t> </a:t>
              </a:r>
              <a:r>
                <a:rPr lang="fr-FR" sz="1600" dirty="0" err="1">
                  <a:latin typeface="Rockwell" panose="02060603020205020403" pitchFamily="18" charset="0"/>
                </a:rPr>
                <a:t>requirement</a:t>
              </a:r>
              <a:endParaRPr lang="en-US" sz="1600" dirty="0">
                <a:latin typeface="Rockwell" panose="02060603020205020403" pitchFamily="18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DE74B39F-0D33-45AC-9599-9BAF3EBD052E}"/>
                </a:ext>
              </a:extLst>
            </p:cNvPr>
            <p:cNvSpPr/>
            <p:nvPr/>
          </p:nvSpPr>
          <p:spPr>
            <a:xfrm>
              <a:off x="936190" y="2661229"/>
              <a:ext cx="2623770" cy="500742"/>
            </a:xfrm>
            <a:prstGeom prst="roundRect">
              <a:avLst>
                <a:gd name="adj" fmla="val 332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 err="1">
                  <a:latin typeface="Rockwell" panose="02060603020205020403" pitchFamily="18" charset="0"/>
                </a:rPr>
                <a:t>Analysis</a:t>
              </a:r>
              <a:r>
                <a:rPr lang="fr-FR" sz="1600" dirty="0">
                  <a:latin typeface="Rockwell" panose="02060603020205020403" pitchFamily="18" charset="0"/>
                </a:rPr>
                <a:t> </a:t>
              </a:r>
              <a:endParaRPr lang="en-US" sz="1600" dirty="0">
                <a:latin typeface="Rockwell" panose="02060603020205020403" pitchFamily="18" charset="0"/>
              </a:endParaRP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E26EC3-2234-4035-9C60-F504DD645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184" y="170368"/>
            <a:ext cx="3974131" cy="4619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253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7EA8D17-F54E-46B9-9769-B61EF0B3DC1D}"/>
              </a:ext>
            </a:extLst>
          </p:cNvPr>
          <p:cNvGrpSpPr/>
          <p:nvPr/>
        </p:nvGrpSpPr>
        <p:grpSpPr>
          <a:xfrm>
            <a:off x="3897831" y="39793"/>
            <a:ext cx="4685764" cy="5044438"/>
            <a:chOff x="3897831" y="39793"/>
            <a:chExt cx="4685764" cy="504443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593224D-4C9C-433D-A43F-B3F9CAEC3420}"/>
                </a:ext>
              </a:extLst>
            </p:cNvPr>
            <p:cNvSpPr/>
            <p:nvPr/>
          </p:nvSpPr>
          <p:spPr>
            <a:xfrm>
              <a:off x="3897831" y="39793"/>
              <a:ext cx="4685764" cy="50444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3073D2A-E1E5-4105-883F-754DE46AEDAA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3709" y="49609"/>
              <a:ext cx="4679886" cy="50346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F5E3FB-6248-4733-958D-272AD4F381BE}"/>
              </a:ext>
            </a:extLst>
          </p:cNvPr>
          <p:cNvSpPr/>
          <p:nvPr/>
        </p:nvSpPr>
        <p:spPr>
          <a:xfrm>
            <a:off x="1680044" y="995890"/>
            <a:ext cx="2204250" cy="41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latin typeface="Rockwell" panose="02060603020205020403" pitchFamily="18" charset="0"/>
              </a:rPr>
              <a:t>Realization Branch</a:t>
            </a:r>
            <a:endParaRPr lang="en-US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379E05-7367-4CAE-8EC6-BDC12C61155A}"/>
              </a:ext>
            </a:extLst>
          </p:cNvPr>
          <p:cNvSpPr/>
          <p:nvPr/>
        </p:nvSpPr>
        <p:spPr>
          <a:xfrm>
            <a:off x="73363" y="4147807"/>
            <a:ext cx="3605431" cy="41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Diagram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DA2EBA-996A-419A-80E4-5002ACB32F77}"/>
              </a:ext>
            </a:extLst>
          </p:cNvPr>
          <p:cNvGrpSpPr/>
          <p:nvPr/>
        </p:nvGrpSpPr>
        <p:grpSpPr>
          <a:xfrm>
            <a:off x="714061" y="1042488"/>
            <a:ext cx="1605599" cy="2524358"/>
            <a:chOff x="9250053" y="499128"/>
            <a:chExt cx="1810400" cy="2734657"/>
          </a:xfrm>
        </p:grpSpPr>
        <p:cxnSp>
          <p:nvCxnSpPr>
            <p:cNvPr id="39" name="Straight Connector 43">
              <a:extLst>
                <a:ext uri="{FF2B5EF4-FFF2-40B4-BE49-F238E27FC236}">
                  <a16:creationId xmlns:a16="http://schemas.microsoft.com/office/drawing/2014/main" id="{C6E95333-9B08-4738-87C4-70F99127EC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5252" y="499128"/>
              <a:ext cx="2" cy="2734657"/>
            </a:xfrm>
            <a:prstGeom prst="line">
              <a:avLst/>
            </a:prstGeom>
            <a:ln w="149225">
              <a:solidFill>
                <a:srgbClr val="971E9E"/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76D1EE6-271E-42BA-8EC6-006A486B23C4}"/>
                </a:ext>
              </a:extLst>
            </p:cNvPr>
            <p:cNvGrpSpPr/>
            <p:nvPr/>
          </p:nvGrpSpPr>
          <p:grpSpPr>
            <a:xfrm>
              <a:off x="9250053" y="721959"/>
              <a:ext cx="1810400" cy="1983216"/>
              <a:chOff x="9250053" y="721959"/>
              <a:chExt cx="1810400" cy="1983216"/>
            </a:xfrm>
          </p:grpSpPr>
          <p:sp>
            <p:nvSpPr>
              <p:cNvPr id="41" name="Rectangle: Rounded Corners 31">
                <a:extLst>
                  <a:ext uri="{FF2B5EF4-FFF2-40B4-BE49-F238E27FC236}">
                    <a16:creationId xmlns:a16="http://schemas.microsoft.com/office/drawing/2014/main" id="{C98FCB9B-DDCA-4406-B905-82EA3735722C}"/>
                  </a:ext>
                </a:extLst>
              </p:cNvPr>
              <p:cNvSpPr/>
              <p:nvPr/>
            </p:nvSpPr>
            <p:spPr>
              <a:xfrm>
                <a:off x="9250054" y="721959"/>
                <a:ext cx="1810399" cy="500742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latin typeface="Rockwell" panose="02060603020205020403" pitchFamily="18" charset="0"/>
                  </a:rPr>
                  <a:t>Preliminary design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46" name="Rectangle: Rounded Corners 32">
                <a:extLst>
                  <a:ext uri="{FF2B5EF4-FFF2-40B4-BE49-F238E27FC236}">
                    <a16:creationId xmlns:a16="http://schemas.microsoft.com/office/drawing/2014/main" id="{3E649819-C2BB-4420-B6D4-02D27BC810F7}"/>
                  </a:ext>
                </a:extLst>
              </p:cNvPr>
              <p:cNvSpPr/>
              <p:nvPr/>
            </p:nvSpPr>
            <p:spPr>
              <a:xfrm>
                <a:off x="9250053" y="1463196"/>
                <a:ext cx="1810399" cy="500742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 err="1">
                    <a:latin typeface="Rockwell" panose="02060603020205020403" pitchFamily="18" charset="0"/>
                  </a:rPr>
                  <a:t>Detailed</a:t>
                </a:r>
                <a:r>
                  <a:rPr lang="fr-FR" sz="1400" dirty="0">
                    <a:latin typeface="Rockwell" panose="02060603020205020403" pitchFamily="18" charset="0"/>
                  </a:rPr>
                  <a:t> Design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47" name="Rectangle: Rounded Corners 33">
                <a:extLst>
                  <a:ext uri="{FF2B5EF4-FFF2-40B4-BE49-F238E27FC236}">
                    <a16:creationId xmlns:a16="http://schemas.microsoft.com/office/drawing/2014/main" id="{B8D6AEE9-D04B-4FCE-B45F-8131EA4E1C9E}"/>
                  </a:ext>
                </a:extLst>
              </p:cNvPr>
              <p:cNvSpPr/>
              <p:nvPr/>
            </p:nvSpPr>
            <p:spPr>
              <a:xfrm>
                <a:off x="9250053" y="2204433"/>
                <a:ext cx="1810399" cy="500742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Rockwell" panose="02060603020205020403" pitchFamily="18" charset="0"/>
                  </a:rPr>
                  <a:t>Coding and tests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1984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3" name="Groupe 6">
            <a:extLst>
              <a:ext uri="{FF2B5EF4-FFF2-40B4-BE49-F238E27FC236}">
                <a16:creationId xmlns:a16="http://schemas.microsoft.com/office/drawing/2014/main" id="{6A6A3361-79E6-43A4-8D6F-633DD6A7061D}"/>
              </a:ext>
            </a:extLst>
          </p:cNvPr>
          <p:cNvGrpSpPr/>
          <p:nvPr/>
        </p:nvGrpSpPr>
        <p:grpSpPr>
          <a:xfrm>
            <a:off x="126726" y="1072012"/>
            <a:ext cx="3468028" cy="2251943"/>
            <a:chOff x="56261" y="1066393"/>
            <a:chExt cx="4493731" cy="271247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F5E3FB-6248-4733-958D-272AD4F381BE}"/>
                </a:ext>
              </a:extLst>
            </p:cNvPr>
            <p:cNvSpPr/>
            <p:nvPr/>
          </p:nvSpPr>
          <p:spPr>
            <a:xfrm>
              <a:off x="56261" y="1066393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Technical Branch</a:t>
              </a:r>
              <a:endParaRPr lang="en-US" sz="20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grpSp>
          <p:nvGrpSpPr>
            <p:cNvPr id="35" name="Group 18">
              <a:extLst>
                <a:ext uri="{FF2B5EF4-FFF2-40B4-BE49-F238E27FC236}">
                  <a16:creationId xmlns:a16="http://schemas.microsoft.com/office/drawing/2014/main" id="{9D3D56B3-5187-4689-B898-7D104F472996}"/>
                </a:ext>
              </a:extLst>
            </p:cNvPr>
            <p:cNvGrpSpPr/>
            <p:nvPr/>
          </p:nvGrpSpPr>
          <p:grpSpPr>
            <a:xfrm>
              <a:off x="1231006" y="1547952"/>
              <a:ext cx="3318986" cy="2230916"/>
              <a:chOff x="3792658" y="1531770"/>
              <a:chExt cx="3318986" cy="2230916"/>
            </a:xfrm>
          </p:grpSpPr>
          <p:cxnSp>
            <p:nvCxnSpPr>
              <p:cNvPr id="42" name="Straight Connector 44">
                <a:extLst>
                  <a:ext uri="{FF2B5EF4-FFF2-40B4-BE49-F238E27FC236}">
                    <a16:creationId xmlns:a16="http://schemas.microsoft.com/office/drawing/2014/main" id="{CFB99421-43AC-4F89-937D-62994BF56415}"/>
                  </a:ext>
                </a:extLst>
              </p:cNvPr>
              <p:cNvCxnSpPr/>
              <p:nvPr/>
            </p:nvCxnSpPr>
            <p:spPr>
              <a:xfrm flipH="1">
                <a:off x="4199141" y="1531770"/>
                <a:ext cx="2043215" cy="2230916"/>
              </a:xfrm>
              <a:prstGeom prst="line">
                <a:avLst/>
              </a:prstGeom>
              <a:ln w="149225">
                <a:solidFill>
                  <a:srgbClr val="971E9E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: Rounded Corners 28">
                <a:extLst>
                  <a:ext uri="{FF2B5EF4-FFF2-40B4-BE49-F238E27FC236}">
                    <a16:creationId xmlns:a16="http://schemas.microsoft.com/office/drawing/2014/main" id="{1EF109B2-A763-4451-A05E-B7312DBA9A14}"/>
                  </a:ext>
                </a:extLst>
              </p:cNvPr>
              <p:cNvSpPr/>
              <p:nvPr/>
            </p:nvSpPr>
            <p:spPr>
              <a:xfrm>
                <a:off x="4255465" y="1918278"/>
                <a:ext cx="2856179" cy="560923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latin typeface="Rockwell" panose="02060603020205020403" pitchFamily="18" charset="0"/>
                  </a:rPr>
                  <a:t>Capture of </a:t>
                </a:r>
                <a:r>
                  <a:rPr lang="fr-FR" sz="1400" dirty="0" err="1">
                    <a:latin typeface="Rockwell" panose="02060603020205020403" pitchFamily="18" charset="0"/>
                  </a:rPr>
                  <a:t>techinal</a:t>
                </a:r>
                <a:r>
                  <a:rPr lang="fr-FR" sz="1400" dirty="0">
                    <a:latin typeface="Rockwell" panose="02060603020205020403" pitchFamily="18" charset="0"/>
                  </a:rPr>
                  <a:t> </a:t>
                </a:r>
                <a:r>
                  <a:rPr lang="fr-FR" sz="1400" dirty="0" err="1">
                    <a:latin typeface="Rockwell" panose="02060603020205020403" pitchFamily="18" charset="0"/>
                  </a:rPr>
                  <a:t>requirement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44" name="Rectangle: Rounded Corners 30">
                <a:extLst>
                  <a:ext uri="{FF2B5EF4-FFF2-40B4-BE49-F238E27FC236}">
                    <a16:creationId xmlns:a16="http://schemas.microsoft.com/office/drawing/2014/main" id="{6D570E69-0D1A-426C-9F23-EE39F7A93DF7}"/>
                  </a:ext>
                </a:extLst>
              </p:cNvPr>
              <p:cNvSpPr/>
              <p:nvPr/>
            </p:nvSpPr>
            <p:spPr>
              <a:xfrm>
                <a:off x="3792658" y="2774068"/>
                <a:ext cx="2856178" cy="500742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 err="1">
                    <a:latin typeface="Rockwell" panose="02060603020205020403" pitchFamily="18" charset="0"/>
                  </a:rPr>
                  <a:t>Generic</a:t>
                </a:r>
                <a:r>
                  <a:rPr lang="fr-FR" sz="1400" dirty="0">
                    <a:latin typeface="Rockwell" panose="02060603020205020403" pitchFamily="18" charset="0"/>
                  </a:rPr>
                  <a:t> Design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A379E05-7367-4CAE-8EC6-BDC12C61155A}"/>
              </a:ext>
            </a:extLst>
          </p:cNvPr>
          <p:cNvSpPr/>
          <p:nvPr/>
        </p:nvSpPr>
        <p:spPr>
          <a:xfrm>
            <a:off x="214933" y="3934362"/>
            <a:ext cx="3605431" cy="41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Physical</a:t>
            </a:r>
          </a:p>
          <a:p>
            <a:pPr algn="ctr"/>
            <a:r>
              <a:rPr lang="en-CA" sz="3600" b="1" dirty="0">
                <a:solidFill>
                  <a:schemeClr val="bg1"/>
                </a:solidFill>
              </a:rPr>
              <a:t>Architecture</a:t>
            </a:r>
            <a:endParaRPr lang="en-US" sz="24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D11F70-0C26-40D5-9C05-B09092C8C4EF}"/>
              </a:ext>
            </a:extLst>
          </p:cNvPr>
          <p:cNvGrpSpPr/>
          <p:nvPr/>
        </p:nvGrpSpPr>
        <p:grpSpPr>
          <a:xfrm>
            <a:off x="3704956" y="1000953"/>
            <a:ext cx="5233035" cy="3240847"/>
            <a:chOff x="3704956" y="1000953"/>
            <a:chExt cx="5233035" cy="32408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84C6FC-149E-428C-B65A-B8DC9FB4D829}"/>
                </a:ext>
              </a:extLst>
            </p:cNvPr>
            <p:cNvSpPr/>
            <p:nvPr/>
          </p:nvSpPr>
          <p:spPr>
            <a:xfrm>
              <a:off x="3704956" y="1000953"/>
              <a:ext cx="5233035" cy="32408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C3FF511-7F6D-4AC7-8642-52ACB8946064}"/>
                </a:ext>
              </a:extLst>
            </p:cNvPr>
            <p:cNvGrpSpPr/>
            <p:nvPr/>
          </p:nvGrpSpPr>
          <p:grpSpPr>
            <a:xfrm>
              <a:off x="3704956" y="1097615"/>
              <a:ext cx="5233035" cy="3051052"/>
              <a:chOff x="0" y="106032"/>
              <a:chExt cx="5377815" cy="3001658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4155C8B-374D-478E-9E66-6A280A73AD5C}"/>
                  </a:ext>
                </a:extLst>
              </p:cNvPr>
              <p:cNvGrpSpPr/>
              <p:nvPr/>
            </p:nvGrpSpPr>
            <p:grpSpPr>
              <a:xfrm>
                <a:off x="2240280" y="2026920"/>
                <a:ext cx="1219200" cy="1080770"/>
                <a:chOff x="0" y="0"/>
                <a:chExt cx="3124200" cy="2749550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84519A3F-90DA-42B7-A991-CD8AA88370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3124200" cy="27495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22355757-0AD5-4A7D-A10D-EE592CA5B4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420" y="228600"/>
                  <a:ext cx="1744980" cy="1744980"/>
                </a:xfrm>
                <a:prstGeom prst="rect">
                  <a:avLst/>
                </a:prstGeom>
              </p:spPr>
            </p:pic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0917A699-3BDF-4C5A-A9EE-E80214939BE7}"/>
                  </a:ext>
                </a:extLst>
              </p:cNvPr>
              <p:cNvGrpSpPr/>
              <p:nvPr/>
            </p:nvGrpSpPr>
            <p:grpSpPr>
              <a:xfrm>
                <a:off x="0" y="106032"/>
                <a:ext cx="5377815" cy="1455420"/>
                <a:chOff x="0" y="106032"/>
                <a:chExt cx="5377815" cy="1455420"/>
              </a:xfrm>
            </p:grpSpPr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D92A55B7-4A54-4A0E-AE06-4E19F7C850BB}"/>
                    </a:ext>
                  </a:extLst>
                </p:cNvPr>
                <p:cNvPicPr/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8188"/>
                <a:stretch/>
              </p:blipFill>
              <p:spPr bwMode="auto">
                <a:xfrm>
                  <a:off x="0" y="106032"/>
                  <a:ext cx="5377815" cy="1455420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BD91969-F2CF-4407-8644-060E527392CC}"/>
                    </a:ext>
                  </a:extLst>
                </p:cNvPr>
                <p:cNvSpPr/>
                <p:nvPr/>
              </p:nvSpPr>
              <p:spPr>
                <a:xfrm>
                  <a:off x="4171332" y="106032"/>
                  <a:ext cx="856053" cy="1464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C2E1B85-440B-48B5-9219-93685980D625}"/>
                  </a:ext>
                </a:extLst>
              </p:cNvPr>
              <p:cNvGrpSpPr/>
              <p:nvPr/>
            </p:nvGrpSpPr>
            <p:grpSpPr>
              <a:xfrm>
                <a:off x="68580" y="510540"/>
                <a:ext cx="1318260" cy="1112520"/>
                <a:chOff x="0" y="0"/>
                <a:chExt cx="1821180" cy="1676400"/>
              </a:xfrm>
              <a:solidFill>
                <a:schemeClr val="bg1"/>
              </a:solidFill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D2A71F0-6E51-4FF2-97E6-34A7E3FE68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1821180" cy="1676400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53" name="Picture 52">
                  <a:extLst>
                    <a:ext uri="{FF2B5EF4-FFF2-40B4-BE49-F238E27FC236}">
                      <a16:creationId xmlns:a16="http://schemas.microsoft.com/office/drawing/2014/main" id="{3CB020ED-2FC8-4871-9F1F-21B2F18892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400" y="228600"/>
                  <a:ext cx="1485900" cy="862965"/>
                </a:xfrm>
                <a:prstGeom prst="rect">
                  <a:avLst/>
                </a:prstGeom>
                <a:grpFill/>
              </p:spPr>
            </p:pic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9BB32EB-01E9-4CE9-B210-316ADFDBA0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7400" y="1318260"/>
                <a:ext cx="1554480" cy="7924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D1E58388-5BB2-48DD-BCF0-F712F5C30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1238250" y="849630"/>
                <a:ext cx="58674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8654421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21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Methodology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DDDA300-A822-4FA0-8317-63DBA76A7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874" y="1030125"/>
            <a:ext cx="4431657" cy="31120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33" name="Groupe 6">
            <a:extLst>
              <a:ext uri="{FF2B5EF4-FFF2-40B4-BE49-F238E27FC236}">
                <a16:creationId xmlns:a16="http://schemas.microsoft.com/office/drawing/2014/main" id="{6A6A3361-79E6-43A4-8D6F-633DD6A7061D}"/>
              </a:ext>
            </a:extLst>
          </p:cNvPr>
          <p:cNvGrpSpPr/>
          <p:nvPr/>
        </p:nvGrpSpPr>
        <p:grpSpPr>
          <a:xfrm>
            <a:off x="126726" y="1072012"/>
            <a:ext cx="3468028" cy="2251943"/>
            <a:chOff x="56261" y="1066393"/>
            <a:chExt cx="4493731" cy="271247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F5E3FB-6248-4733-958D-272AD4F381BE}"/>
                </a:ext>
              </a:extLst>
            </p:cNvPr>
            <p:cNvSpPr/>
            <p:nvPr/>
          </p:nvSpPr>
          <p:spPr>
            <a:xfrm>
              <a:off x="56261" y="1066393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ysClr val="windowText" lastClr="000000"/>
                  </a:solidFill>
                  <a:latin typeface="Rockwell" panose="02060603020205020403" pitchFamily="18" charset="0"/>
                </a:rPr>
                <a:t>Technical Branch</a:t>
              </a:r>
              <a:endParaRPr lang="en-US" sz="20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grpSp>
          <p:nvGrpSpPr>
            <p:cNvPr id="35" name="Group 18">
              <a:extLst>
                <a:ext uri="{FF2B5EF4-FFF2-40B4-BE49-F238E27FC236}">
                  <a16:creationId xmlns:a16="http://schemas.microsoft.com/office/drawing/2014/main" id="{9D3D56B3-5187-4689-B898-7D104F472996}"/>
                </a:ext>
              </a:extLst>
            </p:cNvPr>
            <p:cNvGrpSpPr/>
            <p:nvPr/>
          </p:nvGrpSpPr>
          <p:grpSpPr>
            <a:xfrm>
              <a:off x="1231006" y="1547952"/>
              <a:ext cx="3318986" cy="2230916"/>
              <a:chOff x="3792658" y="1531770"/>
              <a:chExt cx="3318986" cy="2230916"/>
            </a:xfrm>
          </p:grpSpPr>
          <p:cxnSp>
            <p:nvCxnSpPr>
              <p:cNvPr id="42" name="Straight Connector 44">
                <a:extLst>
                  <a:ext uri="{FF2B5EF4-FFF2-40B4-BE49-F238E27FC236}">
                    <a16:creationId xmlns:a16="http://schemas.microsoft.com/office/drawing/2014/main" id="{CFB99421-43AC-4F89-937D-62994BF56415}"/>
                  </a:ext>
                </a:extLst>
              </p:cNvPr>
              <p:cNvCxnSpPr/>
              <p:nvPr/>
            </p:nvCxnSpPr>
            <p:spPr>
              <a:xfrm flipH="1">
                <a:off x="4199141" y="1531770"/>
                <a:ext cx="2043215" cy="2230916"/>
              </a:xfrm>
              <a:prstGeom prst="line">
                <a:avLst/>
              </a:prstGeom>
              <a:ln w="149225">
                <a:solidFill>
                  <a:srgbClr val="971E9E"/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: Rounded Corners 28">
                <a:extLst>
                  <a:ext uri="{FF2B5EF4-FFF2-40B4-BE49-F238E27FC236}">
                    <a16:creationId xmlns:a16="http://schemas.microsoft.com/office/drawing/2014/main" id="{1EF109B2-A763-4451-A05E-B7312DBA9A14}"/>
                  </a:ext>
                </a:extLst>
              </p:cNvPr>
              <p:cNvSpPr/>
              <p:nvPr/>
            </p:nvSpPr>
            <p:spPr>
              <a:xfrm>
                <a:off x="4255465" y="1918278"/>
                <a:ext cx="2856179" cy="560923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>
                    <a:latin typeface="Rockwell" panose="02060603020205020403" pitchFamily="18" charset="0"/>
                  </a:rPr>
                  <a:t>Capture of </a:t>
                </a:r>
                <a:r>
                  <a:rPr lang="fr-FR" sz="1400" dirty="0" err="1">
                    <a:latin typeface="Rockwell" panose="02060603020205020403" pitchFamily="18" charset="0"/>
                  </a:rPr>
                  <a:t>techinal</a:t>
                </a:r>
                <a:r>
                  <a:rPr lang="fr-FR" sz="1400" dirty="0">
                    <a:latin typeface="Rockwell" panose="02060603020205020403" pitchFamily="18" charset="0"/>
                  </a:rPr>
                  <a:t> </a:t>
                </a:r>
                <a:r>
                  <a:rPr lang="fr-FR" sz="1400" dirty="0" err="1">
                    <a:latin typeface="Rockwell" panose="02060603020205020403" pitchFamily="18" charset="0"/>
                  </a:rPr>
                  <a:t>requirement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44" name="Rectangle: Rounded Corners 30">
                <a:extLst>
                  <a:ext uri="{FF2B5EF4-FFF2-40B4-BE49-F238E27FC236}">
                    <a16:creationId xmlns:a16="http://schemas.microsoft.com/office/drawing/2014/main" id="{6D570E69-0D1A-426C-9F23-EE39F7A93DF7}"/>
                  </a:ext>
                </a:extLst>
              </p:cNvPr>
              <p:cNvSpPr/>
              <p:nvPr/>
            </p:nvSpPr>
            <p:spPr>
              <a:xfrm>
                <a:off x="3792658" y="2774068"/>
                <a:ext cx="2856178" cy="500742"/>
              </a:xfrm>
              <a:prstGeom prst="roundRect">
                <a:avLst>
                  <a:gd name="adj" fmla="val 33231"/>
                </a:avLst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dirty="0" err="1">
                    <a:latin typeface="Rockwell" panose="02060603020205020403" pitchFamily="18" charset="0"/>
                  </a:rPr>
                  <a:t>Generic</a:t>
                </a:r>
                <a:r>
                  <a:rPr lang="fr-FR" sz="1400" dirty="0">
                    <a:latin typeface="Rockwell" panose="02060603020205020403" pitchFamily="18" charset="0"/>
                  </a:rPr>
                  <a:t> Design</a:t>
                </a:r>
                <a:endParaRPr lang="en-US" sz="1400" dirty="0">
                  <a:latin typeface="Rockwell" panose="02060603020205020403" pitchFamily="18" charset="0"/>
                </a:endParaRP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A379E05-7367-4CAE-8EC6-BDC12C61155A}"/>
              </a:ext>
            </a:extLst>
          </p:cNvPr>
          <p:cNvSpPr/>
          <p:nvPr/>
        </p:nvSpPr>
        <p:spPr>
          <a:xfrm>
            <a:off x="214933" y="3934362"/>
            <a:ext cx="3605431" cy="41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600" b="1" dirty="0">
                <a:solidFill>
                  <a:schemeClr val="bg1"/>
                </a:solidFill>
              </a:rPr>
              <a:t>Logical </a:t>
            </a:r>
          </a:p>
          <a:p>
            <a:pPr algn="ctr"/>
            <a:r>
              <a:rPr lang="en-CA" sz="3600" b="1" dirty="0">
                <a:solidFill>
                  <a:schemeClr val="bg1"/>
                </a:solidFill>
              </a:rPr>
              <a:t>Architecture</a:t>
            </a:r>
            <a:endParaRPr lang="en-US" sz="24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012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rgbClr val="00206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8" y="255323"/>
            <a:ext cx="3385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Technologies Used</a:t>
            </a:r>
          </a:p>
        </p:txBody>
      </p:sp>
      <p:grpSp>
        <p:nvGrpSpPr>
          <p:cNvPr id="25" name="Groupe 34">
            <a:extLst>
              <a:ext uri="{FF2B5EF4-FFF2-40B4-BE49-F238E27FC236}">
                <a16:creationId xmlns:a16="http://schemas.microsoft.com/office/drawing/2014/main" id="{402F9346-DA18-42C1-AE71-F4EEE3464398}"/>
              </a:ext>
            </a:extLst>
          </p:cNvPr>
          <p:cNvGrpSpPr/>
          <p:nvPr/>
        </p:nvGrpSpPr>
        <p:grpSpPr>
          <a:xfrm>
            <a:off x="126726" y="231704"/>
            <a:ext cx="927625" cy="927617"/>
            <a:chOff x="1511678" y="1540202"/>
            <a:chExt cx="927625" cy="927617"/>
          </a:xfrm>
        </p:grpSpPr>
        <p:sp>
          <p:nvSpPr>
            <p:cNvPr id="26" name="Cadre 32">
              <a:extLst>
                <a:ext uri="{FF2B5EF4-FFF2-40B4-BE49-F238E27FC236}">
                  <a16:creationId xmlns:a16="http://schemas.microsoft.com/office/drawing/2014/main" id="{BFA1EF89-993C-42B3-A3F4-7E08A4138C2B}"/>
                </a:ext>
              </a:extLst>
            </p:cNvPr>
            <p:cNvSpPr/>
            <p:nvPr/>
          </p:nvSpPr>
          <p:spPr>
            <a:xfrm>
              <a:off x="1511678" y="1540202"/>
              <a:ext cx="465115" cy="465115"/>
            </a:xfrm>
            <a:prstGeom prst="fram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Cadre 33">
              <a:extLst>
                <a:ext uri="{FF2B5EF4-FFF2-40B4-BE49-F238E27FC236}">
                  <a16:creationId xmlns:a16="http://schemas.microsoft.com/office/drawing/2014/main" id="{B7EEA999-4798-4866-BF28-A29E2955D8CE}"/>
                </a:ext>
              </a:extLst>
            </p:cNvPr>
            <p:cNvSpPr/>
            <p:nvPr/>
          </p:nvSpPr>
          <p:spPr>
            <a:xfrm>
              <a:off x="1974188" y="2002704"/>
              <a:ext cx="465115" cy="465115"/>
            </a:xfrm>
            <a:prstGeom prst="fram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ZoneTexte 5">
            <a:extLst>
              <a:ext uri="{FF2B5EF4-FFF2-40B4-BE49-F238E27FC236}">
                <a16:creationId xmlns:a16="http://schemas.microsoft.com/office/drawing/2014/main" id="{745BD942-407E-4069-AF28-D0E92717898D}"/>
              </a:ext>
            </a:extLst>
          </p:cNvPr>
          <p:cNvSpPr txBox="1"/>
          <p:nvPr/>
        </p:nvSpPr>
        <p:spPr>
          <a:xfrm>
            <a:off x="3269409" y="950542"/>
            <a:ext cx="1824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Documentation</a:t>
            </a:r>
          </a:p>
        </p:txBody>
      </p:sp>
      <p:cxnSp>
        <p:nvCxnSpPr>
          <p:cNvPr id="33" name="Connecteur droit 7">
            <a:extLst>
              <a:ext uri="{FF2B5EF4-FFF2-40B4-BE49-F238E27FC236}">
                <a16:creationId xmlns:a16="http://schemas.microsoft.com/office/drawing/2014/main" id="{AACF939A-0EE8-4927-9404-0A2084AA8543}"/>
              </a:ext>
            </a:extLst>
          </p:cNvPr>
          <p:cNvCxnSpPr/>
          <p:nvPr/>
        </p:nvCxnSpPr>
        <p:spPr>
          <a:xfrm>
            <a:off x="2573934" y="1175671"/>
            <a:ext cx="28506" cy="3492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9">
            <a:extLst>
              <a:ext uri="{FF2B5EF4-FFF2-40B4-BE49-F238E27FC236}">
                <a16:creationId xmlns:a16="http://schemas.microsoft.com/office/drawing/2014/main" id="{43313D71-AF89-493A-90F1-2142F6D254C9}"/>
              </a:ext>
            </a:extLst>
          </p:cNvPr>
          <p:cNvCxnSpPr/>
          <p:nvPr/>
        </p:nvCxnSpPr>
        <p:spPr>
          <a:xfrm>
            <a:off x="5496002" y="1178681"/>
            <a:ext cx="4291" cy="34818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11">
            <a:extLst>
              <a:ext uri="{FF2B5EF4-FFF2-40B4-BE49-F238E27FC236}">
                <a16:creationId xmlns:a16="http://schemas.microsoft.com/office/drawing/2014/main" id="{71F5C7E3-B32C-45EA-AE6C-7418962AC664}"/>
              </a:ext>
            </a:extLst>
          </p:cNvPr>
          <p:cNvSpPr txBox="1"/>
          <p:nvPr/>
        </p:nvSpPr>
        <p:spPr>
          <a:xfrm>
            <a:off x="6189116" y="955431"/>
            <a:ext cx="193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/>
              <a:t>External</a:t>
            </a:r>
            <a:r>
              <a:rPr lang="fr-FR" sz="1400" b="1" dirty="0"/>
              <a:t> Services</a:t>
            </a:r>
          </a:p>
        </p:txBody>
      </p:sp>
      <p:sp>
        <p:nvSpPr>
          <p:cNvPr id="42" name="ZoneTexte 12">
            <a:extLst>
              <a:ext uri="{FF2B5EF4-FFF2-40B4-BE49-F238E27FC236}">
                <a16:creationId xmlns:a16="http://schemas.microsoft.com/office/drawing/2014/main" id="{626214C0-054F-42DC-997C-E21DE6DC2498}"/>
              </a:ext>
            </a:extLst>
          </p:cNvPr>
          <p:cNvSpPr txBox="1"/>
          <p:nvPr/>
        </p:nvSpPr>
        <p:spPr>
          <a:xfrm>
            <a:off x="845696" y="958529"/>
            <a:ext cx="1240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Coding </a:t>
            </a:r>
          </a:p>
        </p:txBody>
      </p:sp>
      <p:pic>
        <p:nvPicPr>
          <p:cNvPr id="53" name="Picture 52" descr="Discuss the Visual Paradigm">
            <a:extLst>
              <a:ext uri="{FF2B5EF4-FFF2-40B4-BE49-F238E27FC236}">
                <a16:creationId xmlns:a16="http://schemas.microsoft.com/office/drawing/2014/main" id="{536D2D96-D1D8-4F34-92B3-48E6C3705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226" y="3722198"/>
            <a:ext cx="673641" cy="61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Picture 53" descr="GanttProject (@GanttProject) / X">
            <a:extLst>
              <a:ext uri="{FF2B5EF4-FFF2-40B4-BE49-F238E27FC236}">
                <a16:creationId xmlns:a16="http://schemas.microsoft.com/office/drawing/2014/main" id="{2BD93F7A-E0DB-4034-A56A-B55B7C604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432" y="2873091"/>
            <a:ext cx="722765" cy="64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Picture 55" descr="git png on git-scm.com">
            <a:extLst>
              <a:ext uri="{FF2B5EF4-FFF2-40B4-BE49-F238E27FC236}">
                <a16:creationId xmlns:a16="http://schemas.microsoft.com/office/drawing/2014/main" id="{950D9F02-DC83-4DC3-8307-BDA898F7D6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721" y="1331639"/>
            <a:ext cx="646331" cy="646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4BD1BA5C-ADB9-4272-B621-E0DAFCDAD6E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92" y="2601062"/>
            <a:ext cx="642962" cy="75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DBA7FC8C-1B4A-42E8-B843-EAF6BF9D276C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516" y="2691943"/>
            <a:ext cx="824857" cy="75886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754B5C45-B55D-4BC0-832E-272DDE4496B3}"/>
              </a:ext>
            </a:extLst>
          </p:cNvPr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9" r="22216" b="4762"/>
          <a:stretch/>
        </p:blipFill>
        <p:spPr bwMode="auto">
          <a:xfrm>
            <a:off x="7304789" y="2287132"/>
            <a:ext cx="799899" cy="7990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F2A8185C-4B16-41B3-9784-433A630C8A09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10" y="1643107"/>
            <a:ext cx="922020" cy="92202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B1A666D-2635-4872-B4D4-1893D7676DED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453" y="1545277"/>
            <a:ext cx="651539" cy="67753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1AE6019-50AA-4243-90CE-6458DF08CCC1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174" y="1486158"/>
            <a:ext cx="887539" cy="867575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1383EFF-CF21-4281-A4AB-B8A87B6E856D}"/>
              </a:ext>
            </a:extLst>
          </p:cNvPr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328" y="2745549"/>
            <a:ext cx="816425" cy="799053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F6BD4156-C803-4A0D-B83D-E797C1680F46}"/>
              </a:ext>
            </a:extLst>
          </p:cNvPr>
          <p:cNvPicPr/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0" t="7633" r="9893" b="10106"/>
          <a:stretch/>
        </p:blipFill>
        <p:spPr bwMode="auto">
          <a:xfrm>
            <a:off x="228638" y="1526298"/>
            <a:ext cx="698567" cy="7482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4FD0795-FF54-4200-9E08-C3A7B4241426}"/>
              </a:ext>
            </a:extLst>
          </p:cNvPr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703" y="3359928"/>
            <a:ext cx="824857" cy="802598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72B85DF-1026-4EDE-BC46-B08795C998F5}"/>
              </a:ext>
            </a:extLst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487" y="1613577"/>
            <a:ext cx="947729" cy="646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A820D0-4FB9-44F6-871C-D9FB70E230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3417" y="3809665"/>
            <a:ext cx="1023874" cy="1023874"/>
          </a:xfrm>
          <a:prstGeom prst="rect">
            <a:avLst/>
          </a:prstGeom>
        </p:spPr>
      </p:pic>
      <p:pic>
        <p:nvPicPr>
          <p:cNvPr id="96" name="Picture 4" descr="Laravel] Architecture Modulaire avec Laravel Module - Unsolite - Conseils &amp;  Développement de logiciels">
            <a:extLst>
              <a:ext uri="{FF2B5EF4-FFF2-40B4-BE49-F238E27FC236}">
                <a16:creationId xmlns:a16="http://schemas.microsoft.com/office/drawing/2014/main" id="{D793F3AC-D288-4BDC-BD9F-7B1EA9A3A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82" y="3919691"/>
            <a:ext cx="959705" cy="74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645D47-E43D-4BB4-981C-1EA230AA62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6373" y="3804011"/>
            <a:ext cx="581494" cy="62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34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8DB5FB-D52B-430A-A3B5-7CE7439976C0}"/>
              </a:ext>
            </a:extLst>
          </p:cNvPr>
          <p:cNvSpPr/>
          <p:nvPr/>
        </p:nvSpPr>
        <p:spPr>
          <a:xfrm rot="221955">
            <a:off x="8645932" y="-970680"/>
            <a:ext cx="1532467" cy="1617133"/>
          </a:xfrm>
          <a:prstGeom prst="rtTriangle">
            <a:avLst/>
          </a:prstGeom>
          <a:solidFill>
            <a:schemeClr val="tx1">
              <a:alpha val="8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FDA3F4-265B-4D68-BAFA-8955CD68CAD8}"/>
              </a:ext>
            </a:extLst>
          </p:cNvPr>
          <p:cNvGrpSpPr/>
          <p:nvPr/>
        </p:nvGrpSpPr>
        <p:grpSpPr>
          <a:xfrm>
            <a:off x="126726" y="231704"/>
            <a:ext cx="4648474" cy="927617"/>
            <a:chOff x="126726" y="231704"/>
            <a:chExt cx="4648474" cy="927617"/>
          </a:xfrm>
        </p:grpSpPr>
        <p:sp>
          <p:nvSpPr>
            <p:cNvPr id="23" name="ZoneTexte 28">
              <a:extLst>
                <a:ext uri="{FF2B5EF4-FFF2-40B4-BE49-F238E27FC236}">
                  <a16:creationId xmlns:a16="http://schemas.microsoft.com/office/drawing/2014/main" id="{6C6CD5E6-3770-4AD7-8235-F55C171B7A3D}"/>
                </a:ext>
              </a:extLst>
            </p:cNvPr>
            <p:cNvSpPr txBox="1"/>
            <p:nvPr/>
          </p:nvSpPr>
          <p:spPr>
            <a:xfrm>
              <a:off x="887387" y="255323"/>
              <a:ext cx="38878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Lucida Fax" panose="02060602050505020204" pitchFamily="18" charset="0"/>
                </a:rPr>
                <a:t>Demonstration</a:t>
              </a:r>
            </a:p>
          </p:txBody>
        </p:sp>
        <p:grpSp>
          <p:nvGrpSpPr>
            <p:cNvPr id="25" name="Groupe 34">
              <a:extLst>
                <a:ext uri="{FF2B5EF4-FFF2-40B4-BE49-F238E27FC236}">
                  <a16:creationId xmlns:a16="http://schemas.microsoft.com/office/drawing/2014/main" id="{402F9346-DA18-42C1-AE71-F4EEE3464398}"/>
                </a:ext>
              </a:extLst>
            </p:cNvPr>
            <p:cNvGrpSpPr/>
            <p:nvPr/>
          </p:nvGrpSpPr>
          <p:grpSpPr>
            <a:xfrm>
              <a:off x="126726" y="231704"/>
              <a:ext cx="927625" cy="927617"/>
              <a:chOff x="1511678" y="1540202"/>
              <a:chExt cx="927625" cy="927617"/>
            </a:xfrm>
          </p:grpSpPr>
          <p:sp>
            <p:nvSpPr>
              <p:cNvPr id="26" name="Cadre 32">
                <a:extLst>
                  <a:ext uri="{FF2B5EF4-FFF2-40B4-BE49-F238E27FC236}">
                    <a16:creationId xmlns:a16="http://schemas.microsoft.com/office/drawing/2014/main" id="{BFA1EF89-993C-42B3-A3F4-7E08A4138C2B}"/>
                  </a:ext>
                </a:extLst>
              </p:cNvPr>
              <p:cNvSpPr/>
              <p:nvPr/>
            </p:nvSpPr>
            <p:spPr>
              <a:xfrm>
                <a:off x="1511678" y="1540202"/>
                <a:ext cx="465115" cy="465115"/>
              </a:xfrm>
              <a:prstGeom prst="frame">
                <a:avLst/>
              </a:prstGeom>
              <a:solidFill>
                <a:srgbClr val="FF66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Cadre 33">
                <a:extLst>
                  <a:ext uri="{FF2B5EF4-FFF2-40B4-BE49-F238E27FC236}">
                    <a16:creationId xmlns:a16="http://schemas.microsoft.com/office/drawing/2014/main" id="{B7EEA999-4798-4866-BF28-A29E2955D8CE}"/>
                  </a:ext>
                </a:extLst>
              </p:cNvPr>
              <p:cNvSpPr/>
              <p:nvPr/>
            </p:nvSpPr>
            <p:spPr>
              <a:xfrm>
                <a:off x="1974188" y="2002704"/>
                <a:ext cx="465115" cy="465115"/>
              </a:xfrm>
              <a:prstGeom prst="fram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>
            <a:off x="8377766" y="-1130978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257761">
            <a:off x="8842386" y="-344305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FBB73-48AA-4C25-82D5-5F41E269A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12" y="1173162"/>
            <a:ext cx="2797175" cy="2797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25387608-5A0D-45C7-8191-4BB68E29E453}"/>
              </a:ext>
            </a:extLst>
          </p:cNvPr>
          <p:cNvSpPr/>
          <p:nvPr/>
        </p:nvSpPr>
        <p:spPr>
          <a:xfrm>
            <a:off x="3186111" y="3361679"/>
            <a:ext cx="3178177" cy="1781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gradFill>
                  <a:gsLst>
                    <a:gs pos="61000">
                      <a:schemeClr val="accent1">
                        <a:lumMod val="5000"/>
                        <a:lumOff val="95000"/>
                      </a:schemeClr>
                    </a:gs>
                    <a:gs pos="12000">
                      <a:schemeClr val="accent1">
                        <a:lumMod val="45000"/>
                        <a:lumOff val="55000"/>
                      </a:schemeClr>
                    </a:gs>
                    <a:gs pos="44000">
                      <a:schemeClr val="bg1"/>
                    </a:gs>
                    <a:gs pos="91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rial Rounded MT Bold" panose="020F0704030504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SOSReport</a:t>
            </a:r>
            <a:endParaRPr lang="en-US" sz="4000" dirty="0">
              <a:gradFill>
                <a:gsLst>
                  <a:gs pos="61000">
                    <a:schemeClr val="accent1">
                      <a:lumMod val="5000"/>
                      <a:lumOff val="95000"/>
                    </a:schemeClr>
                  </a:gs>
                  <a:gs pos="12000">
                    <a:schemeClr val="accent1">
                      <a:lumMod val="45000"/>
                      <a:lumOff val="55000"/>
                    </a:schemeClr>
                  </a:gs>
                  <a:gs pos="44000">
                    <a:schemeClr val="bg1"/>
                  </a:gs>
                  <a:gs pos="91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Arial Rounded MT Bold" panose="020F07040305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A3502-AE3B-4AFC-A1BB-C952FC65E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170" y="926763"/>
            <a:ext cx="949192" cy="7411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DCAD96-5720-4235-818A-9BBEA233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89" y="3233775"/>
            <a:ext cx="943292" cy="7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83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8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8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94AFDB-B489-4A35-A56E-897E509EE178}"/>
              </a:ext>
            </a:extLst>
          </p:cNvPr>
          <p:cNvSpPr/>
          <p:nvPr/>
        </p:nvSpPr>
        <p:spPr>
          <a:xfrm rot="193520">
            <a:off x="8637237" y="-1060764"/>
            <a:ext cx="1591734" cy="171263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8756856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23" name="ZoneTexte 28">
            <a:extLst>
              <a:ext uri="{FF2B5EF4-FFF2-40B4-BE49-F238E27FC236}">
                <a16:creationId xmlns:a16="http://schemas.microsoft.com/office/drawing/2014/main" id="{6C6CD5E6-3770-4AD7-8235-F55C171B7A3D}"/>
              </a:ext>
            </a:extLst>
          </p:cNvPr>
          <p:cNvSpPr txBox="1"/>
          <p:nvPr/>
        </p:nvSpPr>
        <p:spPr>
          <a:xfrm>
            <a:off x="887387" y="255323"/>
            <a:ext cx="4361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ucida Fax" panose="02060602050505020204" pitchFamily="18" charset="0"/>
              </a:rPr>
              <a:t>Conclusion &amp; Perspective</a:t>
            </a:r>
          </a:p>
        </p:txBody>
      </p:sp>
      <p:sp>
        <p:nvSpPr>
          <p:cNvPr id="26" name="Cadre 32">
            <a:extLst>
              <a:ext uri="{FF2B5EF4-FFF2-40B4-BE49-F238E27FC236}">
                <a16:creationId xmlns:a16="http://schemas.microsoft.com/office/drawing/2014/main" id="{BFA1EF89-993C-42B3-A3F4-7E08A4138C2B}"/>
              </a:ext>
            </a:extLst>
          </p:cNvPr>
          <p:cNvSpPr/>
          <p:nvPr/>
        </p:nvSpPr>
        <p:spPr>
          <a:xfrm>
            <a:off x="126726" y="231704"/>
            <a:ext cx="465115" cy="465115"/>
          </a:xfrm>
          <a:prstGeom prst="frame">
            <a:avLst/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360048" y="379388"/>
            <a:ext cx="465115" cy="465115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18920980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0" name="Image 14">
            <a:extLst>
              <a:ext uri="{FF2B5EF4-FFF2-40B4-BE49-F238E27FC236}">
                <a16:creationId xmlns:a16="http://schemas.microsoft.com/office/drawing/2014/main" id="{9E8C18BB-4DF4-47E1-8B49-22DC147B8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84" y="1808179"/>
            <a:ext cx="1737333" cy="2641115"/>
          </a:xfrm>
          <a:prstGeom prst="rect">
            <a:avLst/>
          </a:prstGeom>
          <a:effectLst>
            <a:outerShdw blurRad="76200" dist="12700" dir="13500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2" name="Shape 16">
            <a:extLst>
              <a:ext uri="{FF2B5EF4-FFF2-40B4-BE49-F238E27FC236}">
                <a16:creationId xmlns:a16="http://schemas.microsoft.com/office/drawing/2014/main" id="{84BA3FB2-3B89-4B17-8BEF-C02FDFED514B}"/>
              </a:ext>
            </a:extLst>
          </p:cNvPr>
          <p:cNvSpPr/>
          <p:nvPr/>
        </p:nvSpPr>
        <p:spPr>
          <a:xfrm>
            <a:off x="3201417" y="1377948"/>
            <a:ext cx="3840480" cy="502920"/>
          </a:xfrm>
          <a:prstGeom prst="rect">
            <a:avLst/>
          </a:prstGeom>
          <a:solidFill>
            <a:srgbClr val="F0F5FA"/>
          </a:solidFill>
          <a:ln w="10160">
            <a:solidFill>
              <a:srgbClr val="D0E4F5"/>
            </a:solidFill>
            <a:prstDash val="solid"/>
          </a:ln>
        </p:spPr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F372E09A-D43D-4336-9BFC-7C31AA1D7B9C}"/>
              </a:ext>
            </a:extLst>
          </p:cNvPr>
          <p:cNvSpPr/>
          <p:nvPr/>
        </p:nvSpPr>
        <p:spPr>
          <a:xfrm>
            <a:off x="3201417" y="1377948"/>
            <a:ext cx="50292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8944D67E-B17B-4194-AB89-1D157BCCE56D}"/>
              </a:ext>
            </a:extLst>
          </p:cNvPr>
          <p:cNvSpPr/>
          <p:nvPr/>
        </p:nvSpPr>
        <p:spPr>
          <a:xfrm>
            <a:off x="3201417" y="13779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1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FDC95801-5699-49E7-841F-D2B1F4FC8DB2}"/>
              </a:ext>
            </a:extLst>
          </p:cNvPr>
          <p:cNvSpPr/>
          <p:nvPr/>
        </p:nvSpPr>
        <p:spPr>
          <a:xfrm>
            <a:off x="3795777" y="139623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remaining system functionalities such as Confirm arrival, AI face blurring</a:t>
            </a:r>
            <a:endParaRPr lang="en-US" sz="12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967F487-5246-4A8D-B7DB-F08C9B55146A}"/>
              </a:ext>
            </a:extLst>
          </p:cNvPr>
          <p:cNvSpPr/>
          <p:nvPr/>
        </p:nvSpPr>
        <p:spPr>
          <a:xfrm>
            <a:off x="3201417" y="2006176"/>
            <a:ext cx="3840480" cy="502920"/>
          </a:xfrm>
          <a:prstGeom prst="rect">
            <a:avLst/>
          </a:prstGeom>
          <a:solidFill>
            <a:srgbClr val="F0F5FA"/>
          </a:solidFill>
          <a:ln w="10160">
            <a:solidFill>
              <a:srgbClr val="D0E4F5"/>
            </a:solidFill>
            <a:prstDash val="solid"/>
          </a:ln>
        </p:spPr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62D06D9D-8853-4FB2-931C-C9297CC7D4AB}"/>
              </a:ext>
            </a:extLst>
          </p:cNvPr>
          <p:cNvSpPr/>
          <p:nvPr/>
        </p:nvSpPr>
        <p:spPr>
          <a:xfrm>
            <a:off x="3201417" y="2006176"/>
            <a:ext cx="50292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56DBCE51-4171-4DEF-ACDF-DBEF1C3CDC2D}"/>
              </a:ext>
            </a:extLst>
          </p:cNvPr>
          <p:cNvSpPr/>
          <p:nvPr/>
        </p:nvSpPr>
        <p:spPr>
          <a:xfrm>
            <a:off x="3201417" y="2006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1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6BFD72B2-3046-41B1-A9D5-9F8119E05F31}"/>
              </a:ext>
            </a:extLst>
          </p:cNvPr>
          <p:cNvSpPr/>
          <p:nvPr/>
        </p:nvSpPr>
        <p:spPr>
          <a:xfrm>
            <a:off x="3795777" y="202446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Twilio API and Email API services</a:t>
            </a:r>
            <a:endParaRPr lang="en-US" sz="120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5BAB9FB4-7F37-4A6E-ACAA-1AFBD072C01C}"/>
              </a:ext>
            </a:extLst>
          </p:cNvPr>
          <p:cNvSpPr/>
          <p:nvPr/>
        </p:nvSpPr>
        <p:spPr>
          <a:xfrm>
            <a:off x="3201417" y="2642871"/>
            <a:ext cx="3840480" cy="502920"/>
          </a:xfrm>
          <a:prstGeom prst="rect">
            <a:avLst/>
          </a:prstGeom>
          <a:solidFill>
            <a:srgbClr val="F0F5FA"/>
          </a:solidFill>
          <a:ln w="10160">
            <a:solidFill>
              <a:srgbClr val="D0E4F5"/>
            </a:solidFill>
            <a:prstDash val="solid"/>
          </a:ln>
        </p:spPr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6E5BED54-C4AE-4649-A208-FC7F3351E837}"/>
              </a:ext>
            </a:extLst>
          </p:cNvPr>
          <p:cNvSpPr/>
          <p:nvPr/>
        </p:nvSpPr>
        <p:spPr>
          <a:xfrm>
            <a:off x="3201417" y="2642871"/>
            <a:ext cx="5029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100A6F35-9DAD-4C4D-AFF0-E5297C28015C}"/>
              </a:ext>
            </a:extLst>
          </p:cNvPr>
          <p:cNvSpPr/>
          <p:nvPr/>
        </p:nvSpPr>
        <p:spPr>
          <a:xfrm>
            <a:off x="3201417" y="2642871"/>
            <a:ext cx="502920" cy="5029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</a:t>
            </a:r>
            <a:endParaRPr lang="en-US" sz="1100" dirty="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7C8AAA4A-DCDD-49D4-B4F1-1600474FC132}"/>
              </a:ext>
            </a:extLst>
          </p:cNvPr>
          <p:cNvSpPr/>
          <p:nvPr/>
        </p:nvSpPr>
        <p:spPr>
          <a:xfrm>
            <a:off x="3795777" y="2661159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offline SMS fallback in case of low or no internet availability</a:t>
            </a:r>
            <a:endParaRPr lang="en-US" sz="120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6BD76F5E-98B9-47D3-965D-D69A77223F7A}"/>
              </a:ext>
            </a:extLst>
          </p:cNvPr>
          <p:cNvSpPr/>
          <p:nvPr/>
        </p:nvSpPr>
        <p:spPr>
          <a:xfrm>
            <a:off x="3201417" y="3262632"/>
            <a:ext cx="3840480" cy="502920"/>
          </a:xfrm>
          <a:prstGeom prst="rect">
            <a:avLst/>
          </a:prstGeom>
          <a:solidFill>
            <a:srgbClr val="F0F5FA"/>
          </a:solidFill>
          <a:ln w="10160">
            <a:solidFill>
              <a:srgbClr val="D0E4F5"/>
            </a:solidFill>
            <a:prstDash val="solid"/>
          </a:ln>
        </p:spPr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CDC0A68B-8C29-4DAD-B092-5AE90223748B}"/>
              </a:ext>
            </a:extLst>
          </p:cNvPr>
          <p:cNvSpPr/>
          <p:nvPr/>
        </p:nvSpPr>
        <p:spPr>
          <a:xfrm>
            <a:off x="3201417" y="3262632"/>
            <a:ext cx="5029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BCFACCE0-EFE9-4841-A135-AE334B93CF34}"/>
              </a:ext>
            </a:extLst>
          </p:cNvPr>
          <p:cNvSpPr/>
          <p:nvPr/>
        </p:nvSpPr>
        <p:spPr>
          <a:xfrm>
            <a:off x="3201417" y="3262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</a:t>
            </a:r>
            <a:endParaRPr lang="en-US" sz="1100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2DD81328-F285-462E-AEBC-8217E65A8C8F}"/>
              </a:ext>
            </a:extLst>
          </p:cNvPr>
          <p:cNvSpPr/>
          <p:nvPr/>
        </p:nvSpPr>
        <p:spPr>
          <a:xfrm>
            <a:off x="3795777" y="3280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the project</a:t>
            </a:r>
            <a:endParaRPr lang="en-US" sz="1200" dirty="0"/>
          </a:p>
        </p:txBody>
      </p:sp>
      <p:sp>
        <p:nvSpPr>
          <p:cNvPr id="61" name="Ellipse 21">
            <a:extLst>
              <a:ext uri="{FF2B5EF4-FFF2-40B4-BE49-F238E27FC236}">
                <a16:creationId xmlns:a16="http://schemas.microsoft.com/office/drawing/2014/main" id="{687AE95F-6E64-47D9-95A4-F2467D6D0DC8}"/>
              </a:ext>
            </a:extLst>
          </p:cNvPr>
          <p:cNvSpPr/>
          <p:nvPr/>
        </p:nvSpPr>
        <p:spPr>
          <a:xfrm flipH="1">
            <a:off x="2821267" y="4541527"/>
            <a:ext cx="883070" cy="502920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9261F"/>
                </a:solidFill>
              </a:rPr>
              <a:t>70%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7B6CA38-A095-415D-9C34-9CE9B7138133}"/>
              </a:ext>
            </a:extLst>
          </p:cNvPr>
          <p:cNvSpPr/>
          <p:nvPr/>
        </p:nvSpPr>
        <p:spPr>
          <a:xfrm>
            <a:off x="256781" y="4171736"/>
            <a:ext cx="3605431" cy="41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Estimation of our total work done</a:t>
            </a:r>
            <a:endParaRPr lang="en-US" sz="1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50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6" grpId="0" animBg="1"/>
      <p:bldP spid="43" grpId="0" animBg="1"/>
      <p:bldP spid="44" grpId="0" animBg="1"/>
      <p:bldP spid="51" grpId="0" animBg="1"/>
      <p:bldP spid="52" grpId="0" animBg="1"/>
      <p:bldP spid="55" grpId="0" animBg="1"/>
      <p:bldP spid="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">
            <a:extLst>
              <a:ext uri="{FF2B5EF4-FFF2-40B4-BE49-F238E27FC236}">
                <a16:creationId xmlns:a16="http://schemas.microsoft.com/office/drawing/2014/main" id="{033E2BB2-A4BC-4E53-899B-C40D3DCEE1C8}"/>
              </a:ext>
            </a:extLst>
          </p:cNvPr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F33E2B">
              <a:alpha val="25000"/>
            </a:srgbClr>
          </a:solidFill>
          <a:ln w="12700">
            <a:solidFill>
              <a:srgbClr val="2E8B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7170F448-2382-4C5F-8266-781D7B0B7B52}"/>
              </a:ext>
            </a:extLst>
          </p:cNvPr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chemeClr val="accent5">
              <a:lumMod val="75000"/>
              <a:alpha val="35000"/>
            </a:schemeClr>
          </a:solidFill>
          <a:ln w="12700">
            <a:solidFill>
              <a:srgbClr val="1A3A6B">
                <a:alpha val="35000"/>
              </a:srgbClr>
            </a:solidFill>
            <a:prstDash val="solid"/>
          </a:ln>
        </p:spPr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19BD1BB7-2C1E-4400-8739-DB751C989CA1}"/>
              </a:ext>
            </a:extLst>
          </p:cNvPr>
          <p:cNvSpPr/>
          <p:nvPr/>
        </p:nvSpPr>
        <p:spPr>
          <a:xfrm rot="13468557">
            <a:off x="8725280" y="4024973"/>
            <a:ext cx="1532467" cy="1617133"/>
          </a:xfrm>
          <a:prstGeom prst="rtTriangle">
            <a:avLst/>
          </a:prstGeom>
          <a:solidFill>
            <a:srgbClr val="FF6600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 18"/>
          <p:cNvSpPr/>
          <p:nvPr/>
        </p:nvSpPr>
        <p:spPr>
          <a:xfrm>
            <a:off x="8138160" y="487510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  <p:sp>
        <p:nvSpPr>
          <p:cNvPr id="26" name="Cadre 32">
            <a:extLst>
              <a:ext uri="{FF2B5EF4-FFF2-40B4-BE49-F238E27FC236}">
                <a16:creationId xmlns:a16="http://schemas.microsoft.com/office/drawing/2014/main" id="{BFA1EF89-993C-42B3-A3F4-7E08A4138C2B}"/>
              </a:ext>
            </a:extLst>
          </p:cNvPr>
          <p:cNvSpPr/>
          <p:nvPr/>
        </p:nvSpPr>
        <p:spPr>
          <a:xfrm>
            <a:off x="1365662" y="822613"/>
            <a:ext cx="742499" cy="746331"/>
          </a:xfrm>
          <a:prstGeom prst="frame">
            <a:avLst/>
          </a:prstGeom>
          <a:solidFill>
            <a:srgbClr val="FF6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Cadre 30">
            <a:extLst>
              <a:ext uri="{FF2B5EF4-FFF2-40B4-BE49-F238E27FC236}">
                <a16:creationId xmlns:a16="http://schemas.microsoft.com/office/drawing/2014/main" id="{185D7328-FAB7-4437-9860-1F5B4658FE68}"/>
              </a:ext>
            </a:extLst>
          </p:cNvPr>
          <p:cNvSpPr/>
          <p:nvPr/>
        </p:nvSpPr>
        <p:spPr>
          <a:xfrm>
            <a:off x="6620934" y="2709721"/>
            <a:ext cx="681170" cy="662653"/>
          </a:xfrm>
          <a:prstGeom prst="frame">
            <a:avLst>
              <a:gd name="adj1" fmla="val 12500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4CA1FBCA-B1CB-440C-A8B9-51767515EBCA}"/>
              </a:ext>
            </a:extLst>
          </p:cNvPr>
          <p:cNvSpPr/>
          <p:nvPr/>
        </p:nvSpPr>
        <p:spPr>
          <a:xfrm rot="2666522">
            <a:off x="-1290346" y="3955545"/>
            <a:ext cx="1532467" cy="1617133"/>
          </a:xfrm>
          <a:prstGeom prst="rtTriangle">
            <a:avLst/>
          </a:prstGeom>
          <a:solidFill>
            <a:srgbClr val="F33E2B">
              <a:alpha val="89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F372E09A-D43D-4336-9BFC-7C31AA1D7B9C}"/>
              </a:ext>
            </a:extLst>
          </p:cNvPr>
          <p:cNvSpPr/>
          <p:nvPr/>
        </p:nvSpPr>
        <p:spPr>
          <a:xfrm>
            <a:off x="947807" y="4372187"/>
            <a:ext cx="134548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62D06D9D-8853-4FB2-931C-C9297CC7D4AB}"/>
              </a:ext>
            </a:extLst>
          </p:cNvPr>
          <p:cNvSpPr/>
          <p:nvPr/>
        </p:nvSpPr>
        <p:spPr>
          <a:xfrm>
            <a:off x="2774316" y="4372187"/>
            <a:ext cx="1461752" cy="502920"/>
          </a:xfrm>
          <a:prstGeom prst="rect">
            <a:avLst/>
          </a:prstGeom>
          <a:solidFill>
            <a:srgbClr val="FF6600"/>
          </a:solidFill>
          <a:ln w="12700">
            <a:noFill/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100A6F35-9DAD-4C4D-AFF0-E5297C28015C}"/>
              </a:ext>
            </a:extLst>
          </p:cNvPr>
          <p:cNvSpPr/>
          <p:nvPr/>
        </p:nvSpPr>
        <p:spPr>
          <a:xfrm>
            <a:off x="6688407" y="4373799"/>
            <a:ext cx="1461752" cy="50292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CDC0A68B-8C29-4DAD-B092-5AE90223748B}"/>
              </a:ext>
            </a:extLst>
          </p:cNvPr>
          <p:cNvSpPr/>
          <p:nvPr/>
        </p:nvSpPr>
        <p:spPr>
          <a:xfrm>
            <a:off x="4717097" y="4373799"/>
            <a:ext cx="1461752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B7FF1E-75E5-44FE-A0A2-1691C755D47A}"/>
              </a:ext>
            </a:extLst>
          </p:cNvPr>
          <p:cNvGrpSpPr/>
          <p:nvPr/>
        </p:nvGrpSpPr>
        <p:grpSpPr>
          <a:xfrm>
            <a:off x="1484195" y="1285115"/>
            <a:ext cx="6175609" cy="1631527"/>
            <a:chOff x="457200" y="928793"/>
            <a:chExt cx="8229600" cy="1631527"/>
          </a:xfrm>
        </p:grpSpPr>
        <p:sp>
          <p:nvSpPr>
            <p:cNvPr id="34" name="Text 3">
              <a:extLst>
                <a:ext uri="{FF2B5EF4-FFF2-40B4-BE49-F238E27FC236}">
                  <a16:creationId xmlns:a16="http://schemas.microsoft.com/office/drawing/2014/main" id="{348929BE-CF8B-496C-B37E-3E7B4641F4E5}"/>
                </a:ext>
              </a:extLst>
            </p:cNvPr>
            <p:cNvSpPr/>
            <p:nvPr/>
          </p:nvSpPr>
          <p:spPr>
            <a:xfrm>
              <a:off x="1330091" y="928793"/>
              <a:ext cx="6570133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800" b="1" kern="0" spc="4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Thank You</a:t>
              </a:r>
              <a:endParaRPr lang="en-US" sz="5800" dirty="0"/>
            </a:p>
          </p:txBody>
        </p:sp>
        <p:sp>
          <p:nvSpPr>
            <p:cNvPr id="38" name="Shape 4">
              <a:extLst>
                <a:ext uri="{FF2B5EF4-FFF2-40B4-BE49-F238E27FC236}">
                  <a16:creationId xmlns:a16="http://schemas.microsoft.com/office/drawing/2014/main" id="{75F0639C-9E8B-4097-A32B-B864872CA53F}"/>
                </a:ext>
              </a:extLst>
            </p:cNvPr>
            <p:cNvSpPr/>
            <p:nvPr/>
          </p:nvSpPr>
          <p:spPr>
            <a:xfrm>
              <a:off x="2743200" y="2011680"/>
              <a:ext cx="3657600" cy="45720"/>
            </a:xfrm>
            <a:prstGeom prst="rect">
              <a:avLst/>
            </a:prstGeom>
            <a:solidFill>
              <a:srgbClr val="E8B84B"/>
            </a:solidFill>
            <a:ln w="12700">
              <a:solidFill>
                <a:srgbClr val="E8B84B"/>
              </a:solidFill>
              <a:prstDash val="solid"/>
            </a:ln>
          </p:spPr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16FCBBEA-87C7-46D9-9BDA-6587ADE35325}"/>
                </a:ext>
              </a:extLst>
            </p:cNvPr>
            <p:cNvSpPr/>
            <p:nvPr/>
          </p:nvSpPr>
          <p:spPr>
            <a:xfrm>
              <a:off x="457200" y="2148840"/>
              <a:ext cx="82296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C8DDE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for Questions &amp; Criticism</a:t>
              </a:r>
              <a:endParaRPr lang="en-US" sz="1600" dirty="0"/>
            </a:p>
          </p:txBody>
        </p:sp>
      </p:grp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9DA0443F-1A08-46AE-AA71-29A6933606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948182" y="885850"/>
            <a:ext cx="502920" cy="502920"/>
          </a:xfrm>
          <a:prstGeom prst="rect">
            <a:avLst/>
          </a:prstGeom>
        </p:spPr>
      </p:pic>
      <p:sp>
        <p:nvSpPr>
          <p:cNvPr id="46" name="Shape 2">
            <a:extLst>
              <a:ext uri="{FF2B5EF4-FFF2-40B4-BE49-F238E27FC236}">
                <a16:creationId xmlns:a16="http://schemas.microsoft.com/office/drawing/2014/main" id="{047AF701-68EC-42FC-938F-02362F9F3AAC}"/>
              </a:ext>
            </a:extLst>
          </p:cNvPr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E8B84B">
              <a:alpha val="35000"/>
            </a:srgbClr>
          </a:solidFill>
          <a:ln w="12700">
            <a:solidFill>
              <a:srgbClr val="E8B84B">
                <a:alpha val="3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947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3632</TotalTime>
  <Words>519</Words>
  <Application>Microsoft Office PowerPoint</Application>
  <PresentationFormat>On-screen Show (16:9)</PresentationFormat>
  <Paragraphs>149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MS PGothic</vt:lpstr>
      <vt:lpstr>Arial</vt:lpstr>
      <vt:lpstr>Arial Rounded MT Bold</vt:lpstr>
      <vt:lpstr>Calibri</vt:lpstr>
      <vt:lpstr>Calibri Light</vt:lpstr>
      <vt:lpstr>Franklin Gothic Heavy</vt:lpstr>
      <vt:lpstr>Georgia</vt:lpstr>
      <vt:lpstr>Lucida Fax</vt:lpstr>
      <vt:lpstr>Rockwell</vt:lpstr>
      <vt:lpstr>Tahoma</vt:lpstr>
      <vt:lpstr>Times New Roman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GradLink — Final Year Project Defence</dc:title>
  <dc:subject>PptxGenJS Presentation</dc:subject>
  <dc:creator>GradLink</dc:creator>
  <cp:lastModifiedBy>Daniel Akamba</cp:lastModifiedBy>
  <cp:revision>95</cp:revision>
  <dcterms:created xsi:type="dcterms:W3CDTF">2026-05-25T07:25:16Z</dcterms:created>
  <dcterms:modified xsi:type="dcterms:W3CDTF">2026-09-23T14:32:57Z</dcterms:modified>
</cp:coreProperties>
</file>